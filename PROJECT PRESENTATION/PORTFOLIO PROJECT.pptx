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84" r:id="rId1"/>
  </p:sldMasterIdLst>
  <p:notesMasterIdLst>
    <p:notesMasterId r:id="rId13"/>
  </p:notesMasterIdLst>
  <p:sldIdLst>
    <p:sldId id="1519" r:id="rId2"/>
    <p:sldId id="257" r:id="rId3"/>
    <p:sldId id="264" r:id="rId4"/>
    <p:sldId id="1521" r:id="rId5"/>
    <p:sldId id="268" r:id="rId6"/>
    <p:sldId id="270" r:id="rId7"/>
    <p:sldId id="1522" r:id="rId8"/>
    <p:sldId id="272" r:id="rId9"/>
    <p:sldId id="278" r:id="rId10"/>
    <p:sldId id="282" r:id="rId11"/>
    <p:sldId id="1523" r:id="rId12"/>
  </p:sldIdLst>
  <p:sldSz cx="9144000" cy="5143500" type="screen16x9"/>
  <p:notesSz cx="5143500" cy="9144000"/>
  <p:embeddedFontLst>
    <p:embeddedFont>
      <p:font typeface="Felix Titling" panose="04060505060202020A04" pitchFamily="82" charset="0"/>
      <p:regular r:id="rId14"/>
    </p:embeddedFont>
    <p:embeddedFont>
      <p:font typeface="Goudy Old Style" panose="02020502050305020303" pitchFamily="18" charset="0"/>
      <p:regular r:id="rId15"/>
      <p:bold r:id="rId16"/>
      <p:italic r:id="rId17"/>
    </p:embeddedFont>
    <p:embeddedFont>
      <p:font typeface="Inter Bold" panose="020B0604020202020204" charset="0"/>
      <p:regular r:id="rId18"/>
    </p:embeddedFont>
    <p:embeddedFont>
      <p:font typeface="Petrona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FFCC00"/>
    <a:srgbClr val="000000"/>
    <a:srgbClr val="CC0000"/>
    <a:srgbClr val="FCA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4" autoAdjust="0"/>
    <p:restoredTop sz="95529" autoAdjust="0"/>
  </p:normalViewPr>
  <p:slideViewPr>
    <p:cSldViewPr snapToGrid="0" snapToObjects="1">
      <p:cViewPr>
        <p:scale>
          <a:sx n="66" d="100"/>
          <a:sy n="66" d="100"/>
        </p:scale>
        <p:origin x="2232" y="883"/>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857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provides a deep dive into the two core holdings of our portfolio: Divi's Laboratories and Bajaj Finserv.
For each company, detail the sector, the specific reasons for selection, highlighting their strengths and market position, and their strategic role within the portfolio.
Emphasize the high conviction behind </a:t>
            </a:r>
            <a:r>
              <a:rPr lang="en-US" dirty="0" err="1"/>
              <a:t>tUse</a:t>
            </a:r>
            <a:r>
              <a:rPr lang="en-US" dirty="0"/>
              <a:t> the comparison table to summarize key data points and quote to reinforce the overall significance of these holdings as the foundation of our investment strategy.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details the strategic growth holdings that capture long-term sectoral expansion.
For each company (InterGlobe Aviation, Larsen &amp; Toubro, and Siemens), highlight their sector, the key investment thesis supporting their selection, and their strategic role within the portfolio.
Emphasize how these holdings align with India's long-term growth trends in aviation, infrastructure, and industrial automation.
The table provides specific transaction details for transparency, and the concluding quote summarizes their collective impact and contribution to portfolio diversification.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tactical holdings, Ashok Leyland and Eternal, which are strategically chosen to enhance portfolio diversification and capitalize on specific niche growth opportunities.
For each company, I will detail their respective sectors, the key investment thesis that supports their inclusion, and their strategic role in complementing our overall portfolio structure.
I will emphasize how these smaller allocations contribute to portfolio balance by introducing exposure to the automotive and burgeoning digital commerce sectors, reflecting our adaptability to market trends.
The accompanying table provides transparent details on the quantities purchased and the exact investment amounts for each tactical holding. The concluding quote summarizes their collective impact on diversification and growth within the portfolio.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detailed analysis of the portfolio's performance, breaking down returns by individual stock and highlighting overall results.
On the left, I've presented a table summarizing each company's return, net profit, and a brief performance descriptor. I've highlighted Siemens as the best performer, as requested.
Below the table, two KPI boxes clearly display the overall portfolio return and total net profit.
The right section, "Key Observations," uses small icons to present five key takeaways from the performance data, offering qualitative insights alongside the quantitative figures.
I will discuss how the diversified strategy led to a profitable outcome across all holdings and emphasize the strong performance of Siemens, Divi's Laboratories, and Bajaj Finserv.</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5143499" y="723056"/>
            <a:ext cx="3490723" cy="2804922"/>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43500" y="3617132"/>
            <a:ext cx="3154680" cy="1035558"/>
          </a:xfrm>
        </p:spPr>
        <p:txBody>
          <a:bodyPr anchor="t" anchorCtr="0">
            <a:normAutofit/>
          </a:bodyPr>
          <a:lstStyle>
            <a:lvl1pPr marL="0" indent="0" algn="l">
              <a:buNone/>
              <a:defRPr sz="15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630936" y="723056"/>
            <a:ext cx="4052460" cy="3944197"/>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7819486" y="3515322"/>
            <a:ext cx="2030018" cy="273844"/>
          </a:xfrm>
        </p:spPr>
        <p:txBody>
          <a:bodyPr/>
          <a:lstStyle/>
          <a:p>
            <a:fld id="{56D64244-A3D4-4B68-87F0-779EEA0C37FE}" type="datetime1">
              <a:rPr lang="en-US" smtClean="0"/>
              <a:t>8/5/2026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431315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548640" y="274320"/>
            <a:ext cx="8055864" cy="849194"/>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244009"/>
            <a:ext cx="8085582" cy="3693750"/>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9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415577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3913524"/>
            <a:ext cx="8229600" cy="589788"/>
          </a:xfrm>
        </p:spPr>
        <p:txBody>
          <a:bodyPr anchor="b">
            <a:normAutofit/>
          </a:bodyPr>
          <a:lstStyle>
            <a:lvl1pPr algn="ctr">
              <a:defRPr sz="33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479472"/>
            <a:ext cx="8229600" cy="360280"/>
          </a:xfrm>
        </p:spPr>
        <p:txBody>
          <a:bodyPr anchor="t">
            <a:normAutofit/>
          </a:bodyPr>
          <a:lstStyle>
            <a:lvl1pPr marL="0" indent="0" algn="ctr">
              <a:buNone/>
              <a:defRPr sz="15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9143999" cy="3739819"/>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297089" y="4340394"/>
            <a:ext cx="1127583" cy="273844"/>
          </a:xfrm>
        </p:spPr>
        <p:txBody>
          <a:bodyPr/>
          <a:lstStyle/>
          <a:p>
            <a:r>
              <a:rPr lang="en-US"/>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56D64244-A3D4-4B68-87F0-779EEA0C37FE}" type="datetime1">
              <a:rPr lang="en-US" smtClean="0"/>
              <a:t>8/5/2026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3" y="3742455"/>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993145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628651" y="1933956"/>
            <a:ext cx="5909501" cy="2694472"/>
          </a:xfrm>
        </p:spPr>
        <p:txBody>
          <a:bodyPr>
            <a:normAutofit/>
          </a:bodyPr>
          <a:lstStyle>
            <a:lvl1pPr>
              <a:defRPr sz="45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3" y="1285875"/>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2990850" y="276225"/>
            <a:ext cx="5531644" cy="760810"/>
          </a:xfrm>
        </p:spPr>
        <p:txBody>
          <a:bodyPr anchor="ctr">
            <a:normAutofit/>
          </a:bodyPr>
          <a:lstStyle>
            <a:lvl1pPr algn="r">
              <a:defRPr sz="15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27894488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628650" y="644652"/>
            <a:ext cx="7159752" cy="2756914"/>
          </a:xfrm>
        </p:spPr>
        <p:txBody>
          <a:bodyPr anchor="t">
            <a:normAutofit/>
          </a:bodyPr>
          <a:lstStyle>
            <a:lvl1pPr>
              <a:defRPr sz="45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3" y="3857625"/>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94077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964461" y="972063"/>
            <a:ext cx="3264994" cy="3199376"/>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2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901292" y="972063"/>
            <a:ext cx="3243834" cy="3199376"/>
          </a:xfrm>
        </p:spPr>
        <p:txBody>
          <a:bodyPr anchor="b" anchorCtr="0"/>
          <a:lstStyle>
            <a:lvl1pPr marL="0" indent="0">
              <a:buNone/>
              <a:defRPr>
                <a:solidFill>
                  <a:schemeClr val="tx1"/>
                </a:solidFill>
              </a:defRPr>
            </a:lvl1pPr>
            <a:lvl2pPr marL="171450" indent="0">
              <a:buNone/>
              <a:defRPr>
                <a:solidFill>
                  <a:schemeClr val="tx1"/>
                </a:solidFill>
              </a:defRPr>
            </a:lvl2pPr>
            <a:lvl3pPr marL="342900" indent="0">
              <a:buNone/>
              <a:defRPr>
                <a:solidFill>
                  <a:schemeClr val="tx1"/>
                </a:solidFill>
              </a:defRPr>
            </a:lvl3pPr>
            <a:lvl4pPr marL="514350" indent="0">
              <a:buNone/>
              <a:defRPr>
                <a:solidFill>
                  <a:schemeClr val="tx1"/>
                </a:solidFill>
              </a:defRPr>
            </a:lvl4pPr>
            <a:lvl5pPr marL="6858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59901268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795528" y="3456432"/>
            <a:ext cx="3127248" cy="1207008"/>
          </a:xfrm>
        </p:spPr>
        <p:txBody>
          <a:bodyPr anchor="t" anchorCtr="0">
            <a:noAutofit/>
          </a:bodyPr>
          <a:lstStyle>
            <a:lvl1pPr algn="ctr">
              <a:defRPr sz="33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942976" y="822960"/>
            <a:ext cx="2832353" cy="2376075"/>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24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5356098" y="630936"/>
            <a:ext cx="3161538" cy="3998214"/>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4722815"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8826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89788" y="1961388"/>
            <a:ext cx="2859786" cy="2667762"/>
          </a:xfrm>
        </p:spPr>
        <p:txBody>
          <a:bodyPr>
            <a:normAutofit/>
          </a:bodyPr>
          <a:lstStyle>
            <a:lvl1pPr>
              <a:defRPr sz="2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139804" y="630936"/>
            <a:ext cx="3717131" cy="2667000"/>
          </a:xfrm>
        </p:spPr>
        <p:txBody>
          <a:bodyPr/>
          <a:lstStyle>
            <a:lvl1pPr>
              <a:defRPr>
                <a:solidFill>
                  <a:schemeClr val="tx1"/>
                </a:solidFill>
              </a:defRPr>
            </a:lvl1pPr>
            <a:lvl2pPr>
              <a:defRPr sz="1050">
                <a:solidFill>
                  <a:schemeClr val="tx1"/>
                </a:solidFill>
              </a:defRPr>
            </a:lvl2pPr>
            <a:lvl3pPr>
              <a:defRPr sz="105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3762152"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276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30936"/>
            <a:ext cx="2249424" cy="3888486"/>
          </a:xfrm>
        </p:spPr>
        <p:txBody>
          <a:bodyPr anchor="t" anchorCtr="0">
            <a:normAutofit/>
          </a:bodyPr>
          <a:lstStyle>
            <a:lvl1pPr>
              <a:defRPr sz="2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500194" y="630936"/>
            <a:ext cx="4695116" cy="3888486"/>
          </a:xfrm>
        </p:spPr>
        <p:txBody>
          <a:bodyPr/>
          <a:lstStyle>
            <a:lvl1pPr>
              <a:defRPr>
                <a:solidFill>
                  <a:schemeClr val="tx1"/>
                </a:solidFill>
              </a:defRPr>
            </a:lvl1pPr>
            <a:lvl2pPr>
              <a:defRPr sz="1050">
                <a:solidFill>
                  <a:schemeClr val="tx1"/>
                </a:solidFill>
              </a:defRPr>
            </a:lvl2pPr>
            <a:lvl3pPr>
              <a:defRPr sz="1050">
                <a:solidFill>
                  <a:schemeClr val="tx1"/>
                </a:solidFill>
              </a:defRPr>
            </a:lvl3pPr>
            <a:lvl4pPr>
              <a:defRPr sz="1050">
                <a:solidFill>
                  <a:schemeClr val="tx1"/>
                </a:solidFill>
              </a:defRPr>
            </a:lvl4pPr>
            <a:lvl5pPr>
              <a:defRPr sz="10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3136657"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407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23364" y="742884"/>
            <a:ext cx="1924195" cy="1394206"/>
          </a:xfrm>
        </p:spPr>
        <p:txBody>
          <a:bodyPr anchor="b"/>
          <a:lstStyle>
            <a:lvl1pPr>
              <a:defRPr lang="en-US" sz="24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 y="0"/>
            <a:ext cx="6244742" cy="51435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24204" y="2258501"/>
            <a:ext cx="1919983" cy="1992188"/>
          </a:xfrm>
        </p:spPr>
        <p:txBody>
          <a:bodyPr vert="horz" lIns="91440" tIns="45720" rIns="91440" bIns="45720" rtlCol="0">
            <a:normAutofit/>
          </a:bodyPr>
          <a:lstStyle>
            <a:lvl1pPr marL="0" indent="0">
              <a:buNone/>
              <a:defRPr lang="en-US" dirty="0"/>
            </a:lvl1pPr>
            <a:lvl2pPr marL="171450" indent="0">
              <a:buNone/>
              <a:defRPr lang="en-US" sz="1050" dirty="0"/>
            </a:lvl2pPr>
            <a:lvl3pPr marL="342900" indent="0">
              <a:buNone/>
              <a:defRPr lang="en-US" sz="1050" dirty="0"/>
            </a:lvl3pPr>
            <a:lvl4pPr marL="514350" indent="0">
              <a:buNone/>
              <a:defRPr lang="en-US" sz="1050" dirty="0"/>
            </a:lvl4pPr>
            <a:lvl5pPr marL="6858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7719423" y="1194719"/>
            <a:ext cx="2230142" cy="273844"/>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7819486" y="3515322"/>
            <a:ext cx="2030018" cy="273844"/>
          </a:xfrm>
        </p:spPr>
        <p:txBody>
          <a:bodyPr/>
          <a:lstStyle>
            <a:lvl1pPr>
              <a:defRPr>
                <a:solidFill>
                  <a:schemeClr val="tx1"/>
                </a:solidFill>
              </a:defRPr>
            </a:lvl1pPr>
          </a:lstStyle>
          <a:p>
            <a:fld id="{56D64244-A3D4-4B68-87F0-779EEA0C37FE}" type="datetime1">
              <a:rPr lang="en-US" smtClean="0"/>
              <a:t>8/5/2026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8634222" y="4767263"/>
            <a:ext cx="430965" cy="273844"/>
          </a:xfrm>
        </p:spPr>
        <p:txBody>
          <a:bodyPr/>
          <a:lstStyle>
            <a:lvl1pPr>
              <a:defRPr>
                <a:solidFill>
                  <a:schemeClr val="tx1"/>
                </a:solidFill>
              </a:defRPr>
            </a:lvl1pPr>
          </a:lstStyle>
          <a:p>
            <a:fld id="{DDF60B60-82CA-4BB9-BA6E-A62FADF2374B}"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6240428"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2268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977640" y="411480"/>
            <a:ext cx="4569919" cy="857250"/>
          </a:xfrm>
        </p:spPr>
        <p:txBody>
          <a:bodyPr anchor="b">
            <a:noAutofit/>
          </a:bodyPr>
          <a:lstStyle>
            <a:lvl1pPr>
              <a:defRPr sz="24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595414" cy="51435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977640" y="1371600"/>
            <a:ext cx="4553712" cy="33672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3597866"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7819486" y="3515322"/>
            <a:ext cx="2030018" cy="273844"/>
          </a:xfrm>
        </p:spPr>
        <p:txBody>
          <a:bodyPr/>
          <a:lstStyle/>
          <a:p>
            <a:fld id="{56D64244-A3D4-4B68-87F0-779EEA0C37FE}" type="datetime1">
              <a:rPr lang="en-US" smtClean="0"/>
              <a:t>8/5/2026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7719424" y="1194718"/>
            <a:ext cx="2230142" cy="273844"/>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7169262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1480"/>
            <a:ext cx="4601718" cy="857250"/>
          </a:xfrm>
        </p:spPr>
        <p:txBody>
          <a:bodyPr anchor="b">
            <a:noAutofit/>
          </a:bodyPr>
          <a:lstStyle>
            <a:lvl1pPr>
              <a:defRPr sz="24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71600"/>
            <a:ext cx="4601718" cy="33672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50408" y="0"/>
            <a:ext cx="3593592" cy="51435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5536517"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748309" y="3515322"/>
            <a:ext cx="2030018" cy="273844"/>
          </a:xfrm>
        </p:spPr>
        <p:txBody>
          <a:bodyPr/>
          <a:lstStyle/>
          <a:p>
            <a:fld id="{56D64244-A3D4-4B68-87F0-779EEA0C37FE}" type="datetime1">
              <a:rPr lang="en-US" smtClean="0"/>
              <a:t>8/5/2026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848371" y="1194718"/>
            <a:ext cx="2230142" cy="273844"/>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38338" y="4767263"/>
            <a:ext cx="430965" cy="273844"/>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417201817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240030"/>
            <a:ext cx="5143500" cy="699516"/>
          </a:xfrm>
        </p:spPr>
        <p:txBody>
          <a:bodyPr anchor="b">
            <a:noAutofit/>
          </a:bodyPr>
          <a:lstStyle>
            <a:lvl1pPr>
              <a:defRPr sz="24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035558"/>
            <a:ext cx="5143500" cy="373761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8800" y="0"/>
            <a:ext cx="3075200" cy="51435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6058321"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748309" y="3515322"/>
            <a:ext cx="2030018" cy="273844"/>
          </a:xfrm>
        </p:spPr>
        <p:txBody>
          <a:bodyPr/>
          <a:lstStyle/>
          <a:p>
            <a:fld id="{56D64244-A3D4-4B68-87F0-779EEA0C37FE}" type="datetime1">
              <a:rPr lang="en-US" smtClean="0"/>
              <a:t>8/5/2026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848371" y="1194718"/>
            <a:ext cx="2230142" cy="273844"/>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38338" y="4767263"/>
            <a:ext cx="430965" cy="273844"/>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9221625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37560"/>
            <a:ext cx="3271266" cy="946979"/>
          </a:xfrm>
        </p:spPr>
        <p:txBody>
          <a:bodyPr anchor="b">
            <a:noAutofit/>
          </a:bodyPr>
          <a:lstStyle>
            <a:lvl1pPr>
              <a:defRPr sz="24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1" y="1484596"/>
            <a:ext cx="3270647" cy="324694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09110" y="0"/>
            <a:ext cx="4834890" cy="51435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4299095"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748309" y="3515322"/>
            <a:ext cx="2030018" cy="273844"/>
          </a:xfrm>
        </p:spPr>
        <p:txBody>
          <a:bodyPr/>
          <a:lstStyle/>
          <a:p>
            <a:fld id="{56D64244-A3D4-4B68-87F0-779EEA0C37FE}" type="datetime1">
              <a:rPr lang="en-US" smtClean="0"/>
              <a:t>8/5/2026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848371" y="1194718"/>
            <a:ext cx="2230142" cy="273844"/>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38338" y="4767263"/>
            <a:ext cx="430965" cy="273844"/>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8830708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240030"/>
            <a:ext cx="3429000" cy="699516"/>
          </a:xfrm>
        </p:spPr>
        <p:txBody>
          <a:bodyPr anchor="b"/>
          <a:lstStyle>
            <a:lvl1pPr>
              <a:defRPr sz="24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1035558"/>
            <a:ext cx="3429000" cy="373761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38291" y="0"/>
            <a:ext cx="4705709" cy="51435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4433793"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748309" y="3515322"/>
            <a:ext cx="2030018" cy="273844"/>
          </a:xfrm>
        </p:spPr>
        <p:txBody>
          <a:bodyPr/>
          <a:lstStyle/>
          <a:p>
            <a:fld id="{56D64244-A3D4-4B68-87F0-779EEA0C37FE}" type="datetime1">
              <a:rPr lang="en-US" smtClean="0"/>
              <a:t>8/5/2026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848371" y="1194718"/>
            <a:ext cx="2230142" cy="273844"/>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38338" y="4767263"/>
            <a:ext cx="430965" cy="273844"/>
          </a:xfrm>
        </p:spPr>
        <p:txBody>
          <a:bodyPr/>
          <a:lstStyle/>
          <a:p>
            <a:fld id="{DDF60B60-82CA-4BB9-BA6E-A62FADF2374B}" type="slidenum">
              <a:rPr lang="en-US" smtClean="0"/>
              <a:t>‹#›</a:t>
            </a:fld>
            <a:endParaRPr lang="en-US"/>
          </a:p>
        </p:txBody>
      </p:sp>
    </p:spTree>
    <p:extLst>
      <p:ext uri="{BB962C8B-B14F-4D97-AF65-F5344CB8AC3E}">
        <p14:creationId xmlns:p14="http://schemas.microsoft.com/office/powerpoint/2010/main" val="35260706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759201"/>
            <a:ext cx="2804922" cy="1042748"/>
          </a:xfrm>
        </p:spPr>
        <p:txBody>
          <a:bodyPr anchor="t">
            <a:normAutofit/>
          </a:bodyPr>
          <a:lstStyle>
            <a:lvl1pPr>
              <a:defRPr sz="24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9144000" cy="3476349"/>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374251" y="4263232"/>
            <a:ext cx="1281907" cy="273844"/>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4740" y="3759200"/>
            <a:ext cx="4800600" cy="1042748"/>
          </a:xfrm>
        </p:spPr>
        <p:txBody>
          <a:bodyPr>
            <a:noAutofit/>
          </a:bodyPr>
          <a:lstStyle>
            <a:lvl1pPr marL="0" indent="0">
              <a:buFont typeface="Arial" panose="020B0604020202020204" pitchFamily="34" charset="0"/>
              <a:buNone/>
              <a:defRPr sz="1350">
                <a:solidFill>
                  <a:schemeClr val="tx1"/>
                </a:solidFill>
              </a:defRPr>
            </a:lvl1pPr>
            <a:lvl2pPr marL="171450" indent="0">
              <a:buFont typeface="Arial" panose="020B0604020202020204" pitchFamily="34" charset="0"/>
              <a:buNone/>
              <a:defRPr sz="1200">
                <a:solidFill>
                  <a:schemeClr val="tx1"/>
                </a:solidFill>
              </a:defRPr>
            </a:lvl2pPr>
            <a:lvl3pPr marL="342900" indent="0">
              <a:buFont typeface="Arial" panose="020B0604020202020204" pitchFamily="34" charset="0"/>
              <a:buNone/>
              <a:defRPr sz="1050">
                <a:solidFill>
                  <a:schemeClr val="tx1"/>
                </a:solidFill>
              </a:defRPr>
            </a:lvl3pPr>
            <a:lvl4pPr marL="514350" indent="0">
              <a:buFont typeface="Arial" panose="020B0604020202020204" pitchFamily="34" charset="0"/>
              <a:buNone/>
              <a:defRPr sz="900">
                <a:solidFill>
                  <a:schemeClr val="tx1"/>
                </a:solidFill>
              </a:defRPr>
            </a:lvl4pPr>
            <a:lvl5pPr marL="685800" indent="0">
              <a:buFont typeface="Arial" panose="020B0604020202020204" pitchFamily="34" charset="0"/>
              <a:buNone/>
              <a:defRPr sz="825">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8380469" y="4076305"/>
            <a:ext cx="908051" cy="273844"/>
          </a:xfrm>
        </p:spPr>
        <p:txBody>
          <a:bodyPr/>
          <a:lstStyle>
            <a:lvl1pPr>
              <a:defRPr>
                <a:solidFill>
                  <a:schemeClr val="tx1"/>
                </a:solidFill>
              </a:defRPr>
            </a:lvl1pPr>
          </a:lstStyle>
          <a:p>
            <a:fld id="{56D64244-A3D4-4B68-87F0-779EEA0C37FE}" type="datetime1">
              <a:rPr lang="en-US" smtClean="0"/>
              <a:t>8/5/2026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3478672"/>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907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0061" y="3662172"/>
            <a:ext cx="2743202" cy="1090422"/>
          </a:xfrm>
        </p:spPr>
        <p:txBody>
          <a:bodyPr anchor="t">
            <a:normAutofit/>
          </a:bodyPr>
          <a:lstStyle>
            <a:lvl1pPr algn="ctr">
              <a:defRPr sz="24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548641" y="411482"/>
            <a:ext cx="2617631" cy="3031235"/>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703320" y="411956"/>
            <a:ext cx="4920854" cy="4319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3484588"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0476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8623" y="419506"/>
            <a:ext cx="8066753" cy="699516"/>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848371" y="1194718"/>
            <a:ext cx="2230142" cy="273844"/>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748310" y="3446210"/>
            <a:ext cx="2030018" cy="273844"/>
          </a:xfrm>
        </p:spPr>
        <p:txBody>
          <a:bodyPr/>
          <a:lstStyle>
            <a:lvl1pPr algn="l">
              <a:defRPr>
                <a:solidFill>
                  <a:schemeClr val="tx1"/>
                </a:solidFill>
              </a:defRPr>
            </a:lvl1pPr>
          </a:lstStyle>
          <a:p>
            <a:fld id="{56D64244-A3D4-4B68-87F0-779EEA0C37FE}" type="datetime1">
              <a:rPr lang="en-US" smtClean="0"/>
              <a:t>8/5/2026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66427" y="4698151"/>
            <a:ext cx="430965" cy="273844"/>
          </a:xfrm>
        </p:spPr>
        <p:txBody>
          <a:bodyPr/>
          <a:lstStyle>
            <a:lvl1pPr>
              <a:defRPr>
                <a:solidFill>
                  <a:schemeClr val="tx1"/>
                </a:solidFill>
              </a:defRPr>
            </a:lvl1pPr>
          </a:lstStyle>
          <a:p>
            <a:fld id="{DDF60B60-82CA-4BB9-BA6E-A62FADF2374B}"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1285239"/>
            <a:ext cx="3290259" cy="3459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4244196" y="1285240"/>
            <a:ext cx="4899803" cy="385826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14313" lvl="0" indent="-214313"/>
            <a:r>
              <a:rPr lang="en-US"/>
              <a:t> </a:t>
            </a:r>
          </a:p>
        </p:txBody>
      </p:sp>
    </p:spTree>
    <p:extLst>
      <p:ext uri="{BB962C8B-B14F-4D97-AF65-F5344CB8AC3E}">
        <p14:creationId xmlns:p14="http://schemas.microsoft.com/office/powerpoint/2010/main" val="2817520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1543050" y="3703321"/>
            <a:ext cx="5240653" cy="1014984"/>
          </a:xfrm>
        </p:spPr>
        <p:txBody>
          <a:bodyPr anchor="t">
            <a:normAutofit/>
          </a:bodyPr>
          <a:lstStyle>
            <a:lvl1pPr>
              <a:lnSpc>
                <a:spcPct val="110000"/>
              </a:lnSpc>
              <a:spcBef>
                <a:spcPts val="750"/>
              </a:spcBef>
              <a:defRPr sz="21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1543050" y="411766"/>
            <a:ext cx="7091363" cy="3250406"/>
          </a:xfrm>
        </p:spPr>
        <p:txBody>
          <a:bodyPr anchor="b">
            <a:normAutofit/>
          </a:bodyPr>
          <a:lstStyle>
            <a:lvl1pPr>
              <a:defRPr sz="174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028700" y="0"/>
            <a:ext cx="0" cy="51435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8537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459486" y="-921095"/>
            <a:ext cx="7989570" cy="850392"/>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1968104" y="1701562"/>
            <a:ext cx="5207793" cy="2965691"/>
          </a:xfrm>
        </p:spPr>
        <p:txBody>
          <a:bodyPr anchor="ctr" anchorCtr="0">
            <a:noAutofit/>
          </a:bodyPr>
          <a:lstStyle>
            <a:lvl1pPr marL="0" indent="0" algn="ctr">
              <a:lnSpc>
                <a:spcPct val="110000"/>
              </a:lnSpc>
              <a:buNone/>
              <a:defRPr sz="3300" b="0" cap="all" baseline="0">
                <a:solidFill>
                  <a:schemeClr val="tx1"/>
                </a:solidFill>
              </a:defRPr>
            </a:lvl1pPr>
            <a:lvl2pPr marL="171450" indent="0" algn="ctr">
              <a:lnSpc>
                <a:spcPct val="110000"/>
              </a:lnSpc>
              <a:buNone/>
              <a:defRPr sz="3300" b="0" cap="all" baseline="0">
                <a:solidFill>
                  <a:schemeClr val="tx1"/>
                </a:solidFill>
              </a:defRPr>
            </a:lvl2pPr>
            <a:lvl3pPr marL="342900" indent="0" algn="ctr">
              <a:lnSpc>
                <a:spcPct val="110000"/>
              </a:lnSpc>
              <a:buNone/>
              <a:defRPr sz="3300" b="0" cap="all" baseline="0">
                <a:solidFill>
                  <a:schemeClr val="tx1"/>
                </a:solidFill>
              </a:defRPr>
            </a:lvl3pPr>
            <a:lvl4pPr marL="514350" indent="0" algn="ctr">
              <a:lnSpc>
                <a:spcPct val="110000"/>
              </a:lnSpc>
              <a:buNone/>
              <a:defRPr sz="3300" b="0" cap="all" baseline="0">
                <a:solidFill>
                  <a:schemeClr val="tx1"/>
                </a:solidFill>
              </a:defRPr>
            </a:lvl4pPr>
            <a:lvl5pPr marL="685800" indent="0" algn="ctr">
              <a:lnSpc>
                <a:spcPct val="110000"/>
              </a:lnSpc>
              <a:buNone/>
              <a:defRPr sz="33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2292904" y="-1072785"/>
            <a:ext cx="4558193" cy="7883029"/>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1"/>
              </a:solidFill>
            </a:endParaRPr>
          </a:p>
        </p:txBody>
      </p:sp>
    </p:spTree>
    <p:extLst>
      <p:ext uri="{BB962C8B-B14F-4D97-AF65-F5344CB8AC3E}">
        <p14:creationId xmlns:p14="http://schemas.microsoft.com/office/powerpoint/2010/main" val="23125840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205126" y="4251960"/>
            <a:ext cx="4733748" cy="349758"/>
          </a:xfrm>
        </p:spPr>
        <p:txBody>
          <a:bodyPr anchor="ctr">
            <a:normAutofit/>
          </a:bodyPr>
          <a:lstStyle>
            <a:lvl1pPr algn="ctr">
              <a:lnSpc>
                <a:spcPct val="110000"/>
              </a:lnSpc>
              <a:spcBef>
                <a:spcPts val="750"/>
              </a:spcBef>
              <a:defRPr sz="135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1947851" y="1308433"/>
            <a:ext cx="5248298" cy="2630930"/>
          </a:xfrm>
        </p:spPr>
        <p:txBody>
          <a:bodyPr anchor="b">
            <a:normAutofit/>
          </a:bodyPr>
          <a:lstStyle>
            <a:lvl1pPr algn="ctr">
              <a:lnSpc>
                <a:spcPct val="100000"/>
              </a:lnSpc>
              <a:spcBef>
                <a:spcPts val="0"/>
              </a:spcBef>
              <a:defRPr sz="45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108535" y="-1261480"/>
            <a:ext cx="4926932" cy="7883029"/>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8834058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274320"/>
            <a:ext cx="8055864" cy="849194"/>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548878" y="1577579"/>
            <a:ext cx="3886200" cy="3263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4713710" y="1577341"/>
            <a:ext cx="3886200" cy="3263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1602304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548640" y="274320"/>
            <a:ext cx="8055864" cy="849194"/>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1" y="1577340"/>
            <a:ext cx="3868340" cy="419876"/>
          </a:xfrm>
        </p:spPr>
        <p:txBody>
          <a:bodyPr anchor="b">
            <a:norm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548879" y="2057401"/>
            <a:ext cx="3867890" cy="282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732020" y="1577340"/>
            <a:ext cx="3887391" cy="419876"/>
          </a:xfrm>
        </p:spPr>
        <p:txBody>
          <a:bodyPr anchor="b">
            <a:norm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4732021" y="2057401"/>
            <a:ext cx="3887391" cy="282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19349783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548640" y="274320"/>
            <a:ext cx="8055864" cy="849194"/>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2639785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183229078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0937" y="342900"/>
            <a:ext cx="5506730" cy="850392"/>
          </a:xfrm>
          <a:noFill/>
        </p:spPr>
        <p:txBody>
          <a:bodyPr anchor="b">
            <a:noAutofit/>
          </a:bodyPr>
          <a:lstStyle>
            <a:lvl1pPr>
              <a:defRPr sz="45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0936" y="1968246"/>
            <a:ext cx="7818120" cy="2400300"/>
          </a:xfrm>
          <a:noFill/>
        </p:spPr>
        <p:txBody>
          <a:bodyPr/>
          <a:lstStyle>
            <a:lvl1pPr marL="0" indent="0">
              <a:buNone/>
              <a:defRPr>
                <a:solidFill>
                  <a:schemeClr val="tx1"/>
                </a:solidFill>
              </a:defRPr>
            </a:lvl1pPr>
            <a:lvl2pPr marL="171450" indent="0">
              <a:buNone/>
              <a:defRPr>
                <a:solidFill>
                  <a:schemeClr val="tx1"/>
                </a:solidFill>
              </a:defRPr>
            </a:lvl2pPr>
            <a:lvl3pPr marL="342900" indent="0">
              <a:buNone/>
              <a:defRPr>
                <a:solidFill>
                  <a:schemeClr val="tx1"/>
                </a:solidFill>
              </a:defRPr>
            </a:lvl3pPr>
            <a:lvl4pPr marL="514350" indent="0">
              <a:buNone/>
              <a:defRPr>
                <a:solidFill>
                  <a:schemeClr val="tx1"/>
                </a:solidFill>
              </a:defRPr>
            </a:lvl4pPr>
            <a:lvl5pPr marL="6858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4106183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548640" y="274320"/>
            <a:ext cx="8055864" cy="849194"/>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548640" y="1726377"/>
            <a:ext cx="8055863" cy="2940874"/>
          </a:xfrm>
          <a:noFill/>
        </p:spPr>
        <p:txBody>
          <a:bodyPr/>
          <a:lstStyle>
            <a:lvl1pPr marL="0" indent="0">
              <a:buNone/>
              <a:defRPr>
                <a:solidFill>
                  <a:schemeClr val="tx1"/>
                </a:solidFill>
              </a:defRPr>
            </a:lvl1pPr>
            <a:lvl2pPr marL="171450" indent="0">
              <a:buNone/>
              <a:defRPr>
                <a:solidFill>
                  <a:schemeClr val="tx1"/>
                </a:solidFill>
              </a:defRPr>
            </a:lvl2pPr>
            <a:lvl3pPr marL="342900" indent="0">
              <a:buNone/>
              <a:defRPr>
                <a:solidFill>
                  <a:schemeClr val="tx1"/>
                </a:solidFill>
              </a:defRPr>
            </a:lvl3pPr>
            <a:lvl4pPr marL="514350" indent="0">
              <a:buNone/>
              <a:defRPr>
                <a:solidFill>
                  <a:schemeClr val="tx1"/>
                </a:solidFill>
              </a:defRPr>
            </a:lvl4pPr>
            <a:lvl5pPr marL="6858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18985525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39131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628650" y="438743"/>
            <a:ext cx="7886700" cy="837608"/>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848371" y="1194718"/>
            <a:ext cx="2230142" cy="273844"/>
          </a:xfrm>
          <a:prstGeom prst="rect">
            <a:avLst/>
          </a:prstGeom>
        </p:spPr>
        <p:txBody>
          <a:bodyPr vert="horz" lIns="91440" tIns="45720" rIns="91440" bIns="45720" rtlCol="0" anchor="ctr"/>
          <a:lstStyle>
            <a:lvl1pPr algn="r" rtl="0">
              <a:defRPr sz="75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628650" y="1546102"/>
            <a:ext cx="7886700" cy="30861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7819486" y="3515322"/>
            <a:ext cx="2030018" cy="273844"/>
          </a:xfrm>
          <a:prstGeom prst="rect">
            <a:avLst/>
          </a:prstGeom>
        </p:spPr>
        <p:txBody>
          <a:bodyPr vert="horz" lIns="91440" tIns="45720" rIns="91440" bIns="45720" rtlCol="0" anchor="ctr"/>
          <a:lstStyle>
            <a:lvl1pPr algn="r" rtl="0">
              <a:defRPr sz="750">
                <a:solidFill>
                  <a:schemeClr val="tx1"/>
                </a:solidFill>
              </a:defRPr>
            </a:lvl1pPr>
          </a:lstStyle>
          <a:p>
            <a:fld id="{56D64244-A3D4-4B68-87F0-779EEA0C37FE}" type="datetime1">
              <a:rPr lang="en-US" smtClean="0"/>
              <a:t>8/5/2026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8634222" y="4767263"/>
            <a:ext cx="430965" cy="273844"/>
          </a:xfrm>
          <a:prstGeom prst="rect">
            <a:avLst/>
          </a:prstGeom>
        </p:spPr>
        <p:txBody>
          <a:bodyPr vert="horz" lIns="91440" tIns="45720" rIns="91440" bIns="45720" rtlCol="0" anchor="ctr"/>
          <a:lstStyle>
            <a:lvl1pPr algn="ctr" rtl="0">
              <a:defRPr sz="750">
                <a:solidFill>
                  <a:schemeClr val="tx1"/>
                </a:solidFill>
              </a:defRPr>
            </a:lvl1pPr>
          </a:lstStyle>
          <a:p>
            <a:fld id="{DDF60B60-82CA-4BB9-BA6E-A62FADF2374B}"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3" y="1368083"/>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057261"/>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99" r:id="rId15"/>
    <p:sldLayoutId id="2147483900" r:id="rId16"/>
    <p:sldLayoutId id="2147483901" r:id="rId17"/>
    <p:sldLayoutId id="2147483902" r:id="rId18"/>
    <p:sldLayoutId id="2147483903" r:id="rId19"/>
    <p:sldLayoutId id="2147483904" r:id="rId20"/>
    <p:sldLayoutId id="2147483905" r:id="rId21"/>
    <p:sldLayoutId id="2147483906" r:id="rId22"/>
    <p:sldLayoutId id="2147483907" r:id="rId23"/>
    <p:sldLayoutId id="2147483908" r:id="rId24"/>
    <p:sldLayoutId id="2147483909" r:id="rId25"/>
    <p:sldLayoutId id="2147483910" r:id="rId26"/>
    <p:sldLayoutId id="2147483911" r:id="rId27"/>
    <p:sldLayoutId id="2147483912" r:id="rId28"/>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txStyles>
    <p:titleStyle>
      <a:lvl1pPr algn="l" defTabSz="685800" rtl="0" eaLnBrk="1" latinLnBrk="0" hangingPunct="1">
        <a:lnSpc>
          <a:spcPct val="90000"/>
        </a:lnSpc>
        <a:spcBef>
          <a:spcPct val="0"/>
        </a:spcBef>
        <a:buNone/>
        <a:defRPr sz="3300" kern="1200" cap="all" baseline="0">
          <a:solidFill>
            <a:schemeClr val="tx1"/>
          </a:solidFill>
          <a:latin typeface="+mj-lt"/>
          <a:ea typeface="+mj-ea"/>
          <a:cs typeface="+mj-cs"/>
        </a:defRPr>
      </a:lvl1pPr>
    </p:titleStyle>
    <p:bodyStyle>
      <a:lvl1pPr marL="0" indent="0" algn="l" defTabSz="685800" rtl="0" eaLnBrk="1" latinLnBrk="0" hangingPunct="1">
        <a:lnSpc>
          <a:spcPct val="110000"/>
        </a:lnSpc>
        <a:spcBef>
          <a:spcPts val="750"/>
        </a:spcBef>
        <a:buSzPct val="80000"/>
        <a:buFont typeface="Arial" panose="020B0604020202020204" pitchFamily="34" charset="0"/>
        <a:buNone/>
        <a:defRPr sz="1350" kern="1200">
          <a:solidFill>
            <a:schemeClr val="tx1"/>
          </a:solidFill>
          <a:latin typeface="+mn-lt"/>
          <a:ea typeface="+mn-ea"/>
          <a:cs typeface="+mn-cs"/>
        </a:defRPr>
      </a:lvl1pPr>
      <a:lvl2pPr marL="377190" indent="-171450" algn="l" defTabSz="685800" rtl="0" eaLnBrk="1" latinLnBrk="0" hangingPunct="1">
        <a:lnSpc>
          <a:spcPct val="110000"/>
        </a:lnSpc>
        <a:spcBef>
          <a:spcPts val="375"/>
        </a:spcBef>
        <a:buSzPct val="80000"/>
        <a:buFont typeface="Goudy Old Style" panose="02020502050305020303" pitchFamily="18" charset="0"/>
        <a:buChar char="–"/>
        <a:defRPr sz="1200" i="1" kern="1200">
          <a:solidFill>
            <a:schemeClr val="tx1"/>
          </a:solidFill>
          <a:latin typeface="+mn-lt"/>
          <a:ea typeface="+mn-ea"/>
          <a:cs typeface="+mn-cs"/>
        </a:defRPr>
      </a:lvl2pPr>
      <a:lvl3pPr marL="617220" indent="-171450" algn="l" defTabSz="685800" rtl="0" eaLnBrk="1" latinLnBrk="0" hangingPunct="1">
        <a:lnSpc>
          <a:spcPct val="110000"/>
        </a:lnSpc>
        <a:spcBef>
          <a:spcPts val="375"/>
        </a:spcBef>
        <a:buSzPct val="80000"/>
        <a:buFont typeface="Arial" panose="020B0604020202020204" pitchFamily="34" charset="0"/>
        <a:buChar char="•"/>
        <a:defRPr sz="1050" kern="1200">
          <a:solidFill>
            <a:schemeClr val="tx1"/>
          </a:solidFill>
          <a:latin typeface="+mn-lt"/>
          <a:ea typeface="+mn-ea"/>
          <a:cs typeface="+mn-cs"/>
        </a:defRPr>
      </a:lvl3pPr>
      <a:lvl4pPr marL="822960" indent="-171450" algn="l" defTabSz="685800" rtl="0" eaLnBrk="1" latinLnBrk="0" hangingPunct="1">
        <a:lnSpc>
          <a:spcPct val="110000"/>
        </a:lnSpc>
        <a:spcBef>
          <a:spcPts val="375"/>
        </a:spcBef>
        <a:buSzPct val="80000"/>
        <a:buFont typeface="Goudy Old Style" panose="02020502050305020303" pitchFamily="18" charset="0"/>
        <a:buChar char="–"/>
        <a:defRPr sz="1050" i="1" kern="1200">
          <a:solidFill>
            <a:schemeClr val="tx1"/>
          </a:solidFill>
          <a:latin typeface="+mn-lt"/>
          <a:ea typeface="+mn-ea"/>
          <a:cs typeface="+mn-cs"/>
        </a:defRPr>
      </a:lvl4pPr>
      <a:lvl5pPr marL="1028700" indent="-171450" algn="l" defTabSz="685800" rtl="0" eaLnBrk="1" latinLnBrk="0" hangingPunct="1">
        <a:lnSpc>
          <a:spcPct val="110000"/>
        </a:lnSpc>
        <a:spcBef>
          <a:spcPts val="375"/>
        </a:spcBef>
        <a:buSzPct val="80000"/>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hyperlink" Target="https://simple.wikipedia.org/wiki/Bombay_Stock_Exchange" TargetMode="External"/><Relationship Id="rId5" Type="http://schemas.openxmlformats.org/officeDocument/2006/relationships/image" Target="../media/image11.jp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15.sv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5.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a:extLst>
              <a:ext uri="{FF2B5EF4-FFF2-40B4-BE49-F238E27FC236}">
                <a16:creationId xmlns:a16="http://schemas.microsoft.com/office/drawing/2014/main" id="{CD485B1B-BD6F-6B97-82E5-B588C0D03CD1}"/>
              </a:ext>
            </a:extLst>
          </p:cNvPr>
          <p:cNvSpPr>
            <a:spLocks noGrp="1"/>
          </p:cNvSpPr>
          <p:nvPr>
            <p:ph type="subTitle" idx="1"/>
          </p:nvPr>
        </p:nvSpPr>
        <p:spPr>
          <a:xfrm>
            <a:off x="372088" y="4086860"/>
            <a:ext cx="2886846" cy="801155"/>
          </a:xfrm>
        </p:spPr>
        <p:txBody>
          <a:bodyPr/>
          <a:lstStyle/>
          <a:p>
            <a:r>
              <a:rPr lang="en-US" b="1" dirty="0">
                <a:solidFill>
                  <a:srgbClr val="E67E22"/>
                </a:solidFill>
                <a:latin typeface="Times New Roman" panose="02020603050405020304" pitchFamily="18" charset="0"/>
                <a:ea typeface="Inter Bold" pitchFamily="34" charset="-122"/>
                <a:cs typeface="Times New Roman" panose="02020603050405020304" pitchFamily="18" charset="0"/>
              </a:rPr>
              <a:t>Financial Portfolio Management Workshop · 5 August 2026</a:t>
            </a:r>
            <a:endParaRPr lang="en-US" dirty="0">
              <a:latin typeface="Times New Roman" panose="02020603050405020304" pitchFamily="18" charset="0"/>
              <a:cs typeface="Times New Roman" panose="02020603050405020304" pitchFamily="18" charset="0"/>
            </a:endParaRPr>
          </a:p>
        </p:txBody>
      </p:sp>
      <p:pic>
        <p:nvPicPr>
          <p:cNvPr id="7" name="Picture Placeholder 6" descr="A group of horses running in the dust">
            <a:extLst>
              <a:ext uri="{FF2B5EF4-FFF2-40B4-BE49-F238E27FC236}">
                <a16:creationId xmlns:a16="http://schemas.microsoft.com/office/drawing/2014/main" id="{801B52E4-5A3E-2BC1-3EBB-1BABD7ACD264}"/>
              </a:ext>
            </a:extLst>
          </p:cNvPr>
          <p:cNvPicPr>
            <a:picLocks noGrp="1" noChangeAspect="1"/>
          </p:cNvPicPr>
          <p:nvPr>
            <p:ph type="pic" sz="quarter" idx="13"/>
          </p:nvPr>
        </p:nvPicPr>
        <p:blipFill>
          <a:blip r:embed="rId2">
            <a:alphaModFix amt="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27080" r="27080"/>
          <a:stretch/>
        </p:blipFill>
        <p:spPr>
          <a:noFill/>
        </p:spPr>
      </p:pic>
      <p:sp>
        <p:nvSpPr>
          <p:cNvPr id="17" name="Text 1">
            <a:extLst>
              <a:ext uri="{FF2B5EF4-FFF2-40B4-BE49-F238E27FC236}">
                <a16:creationId xmlns:a16="http://schemas.microsoft.com/office/drawing/2014/main" id="{5E5786D0-CCA3-F871-BE50-09780566A876}"/>
              </a:ext>
            </a:extLst>
          </p:cNvPr>
          <p:cNvSpPr/>
          <p:nvPr/>
        </p:nvSpPr>
        <p:spPr>
          <a:xfrm>
            <a:off x="1643972" y="747619"/>
            <a:ext cx="2747786" cy="756047"/>
          </a:xfrm>
          <a:prstGeom prst="rect">
            <a:avLst/>
          </a:prstGeom>
          <a:noFill/>
          <a:ln/>
        </p:spPr>
        <p:txBody>
          <a:bodyPr wrap="none" lIns="0" tIns="0" rIns="0" bIns="0" rtlCol="0" anchor="t"/>
          <a:lstStyle/>
          <a:p>
            <a:pPr>
              <a:lnSpc>
                <a:spcPct val="150000"/>
              </a:lnSpc>
            </a:pPr>
            <a:r>
              <a:rPr lang="en-US" sz="1050" b="1" dirty="0">
                <a:solidFill>
                  <a:srgbClr val="272525"/>
                </a:solidFill>
                <a:latin typeface="Times New Roman" panose="02020603050405020304" pitchFamily="18" charset="0"/>
                <a:ea typeface="Inter" pitchFamily="34" charset="-122"/>
                <a:cs typeface="Times New Roman" panose="02020603050405020304" pitchFamily="18" charset="0"/>
              </a:rPr>
              <a:t>School Of Business </a:t>
            </a:r>
          </a:p>
          <a:p>
            <a:pPr>
              <a:lnSpc>
                <a:spcPct val="150000"/>
              </a:lnSpc>
            </a:pPr>
            <a:r>
              <a:rPr lang="en-US" sz="1050" b="1" dirty="0">
                <a:solidFill>
                  <a:srgbClr val="272525"/>
                </a:solidFill>
                <a:latin typeface="Times New Roman" panose="02020603050405020304" pitchFamily="18" charset="0"/>
                <a:ea typeface="Inter" pitchFamily="34" charset="-122"/>
                <a:cs typeface="Times New Roman" panose="02020603050405020304" pitchFamily="18" charset="0"/>
              </a:rPr>
              <a:t>The Northcap University</a:t>
            </a:r>
          </a:p>
          <a:p>
            <a:pPr>
              <a:lnSpc>
                <a:spcPct val="150000"/>
              </a:lnSpc>
            </a:pPr>
            <a:r>
              <a:rPr lang="en-US" sz="1050" b="1" dirty="0">
                <a:solidFill>
                  <a:srgbClr val="272525"/>
                </a:solidFill>
                <a:latin typeface="Times New Roman" panose="02020603050405020304" pitchFamily="18" charset="0"/>
                <a:ea typeface="Inter" pitchFamily="34" charset="-122"/>
                <a:cs typeface="Times New Roman" panose="02020603050405020304" pitchFamily="18" charset="0"/>
              </a:rPr>
              <a:t>Gurugram, India</a:t>
            </a:r>
            <a:endParaRPr lang="en-US" sz="1050" b="1" dirty="0">
              <a:latin typeface="Times New Roman" panose="02020603050405020304" pitchFamily="18" charset="0"/>
              <a:cs typeface="Times New Roman" panose="02020603050405020304" pitchFamily="18" charset="0"/>
            </a:endParaRPr>
          </a:p>
        </p:txBody>
      </p:sp>
      <p:sp>
        <p:nvSpPr>
          <p:cNvPr id="19" name="Text 2">
            <a:extLst>
              <a:ext uri="{FF2B5EF4-FFF2-40B4-BE49-F238E27FC236}">
                <a16:creationId xmlns:a16="http://schemas.microsoft.com/office/drawing/2014/main" id="{403528A3-1635-A9B0-AE24-D53A6195E34F}"/>
              </a:ext>
            </a:extLst>
          </p:cNvPr>
          <p:cNvSpPr/>
          <p:nvPr/>
        </p:nvSpPr>
        <p:spPr>
          <a:xfrm>
            <a:off x="372088" y="1759074"/>
            <a:ext cx="6113822" cy="348872"/>
          </a:xfrm>
          <a:prstGeom prst="rect">
            <a:avLst/>
          </a:prstGeom>
          <a:noFill/>
          <a:ln/>
        </p:spPr>
        <p:txBody>
          <a:bodyPr wrap="none" lIns="0" tIns="0" rIns="0" bIns="0" rtlCol="0" anchor="t"/>
          <a:lstStyle/>
          <a:p>
            <a:pPr>
              <a:lnSpc>
                <a:spcPct val="104000"/>
              </a:lnSpc>
            </a:pPr>
            <a:r>
              <a:rPr lang="en-US" sz="2175" b="1" dirty="0">
                <a:solidFill>
                  <a:srgbClr val="000000"/>
                </a:solidFill>
                <a:latin typeface="Times New Roman" panose="02020603050405020304" pitchFamily="18" charset="0"/>
                <a:ea typeface="Petrona Bold" pitchFamily="34" charset="-122"/>
                <a:cs typeface="Times New Roman" panose="02020603050405020304" pitchFamily="18" charset="0"/>
              </a:rPr>
              <a:t>Financial Portfolio Management</a:t>
            </a:r>
            <a:endParaRPr lang="en-US" sz="2175" dirty="0">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0FFC32AB-27D4-36C3-2045-09AC64F013E3}"/>
              </a:ext>
            </a:extLst>
          </p:cNvPr>
          <p:cNvSpPr/>
          <p:nvPr/>
        </p:nvSpPr>
        <p:spPr>
          <a:xfrm>
            <a:off x="393558" y="2264103"/>
            <a:ext cx="1571524" cy="170111"/>
          </a:xfrm>
          <a:prstGeom prst="rect">
            <a:avLst/>
          </a:prstGeom>
          <a:noFill/>
          <a:ln/>
        </p:spPr>
        <p:txBody>
          <a:bodyPr wrap="none" lIns="0" tIns="0" rIns="0" bIns="0" rtlCol="0" anchor="t"/>
          <a:lstStyle/>
          <a:p>
            <a:pPr>
              <a:lnSpc>
                <a:spcPct val="104000"/>
              </a:lnSpc>
            </a:pPr>
            <a:r>
              <a:rPr lang="en-US" sz="1350" b="1" dirty="0">
                <a:solidFill>
                  <a:srgbClr val="E67E22"/>
                </a:solidFill>
                <a:latin typeface="Times New Roman" panose="02020603050405020304" pitchFamily="18" charset="0"/>
                <a:ea typeface="Petrona Bold" pitchFamily="34" charset="-122"/>
                <a:cs typeface="Times New Roman" panose="02020603050405020304" pitchFamily="18" charset="0"/>
              </a:rPr>
              <a:t>Portfolio Presentation</a:t>
            </a:r>
            <a:endParaRPr lang="en-US" sz="1350" dirty="0">
              <a:latin typeface="Times New Roman" panose="02020603050405020304" pitchFamily="18" charset="0"/>
              <a:cs typeface="Times New Roman" panose="02020603050405020304" pitchFamily="18" charset="0"/>
            </a:endParaRPr>
          </a:p>
        </p:txBody>
      </p:sp>
      <p:sp>
        <p:nvSpPr>
          <p:cNvPr id="23" name="Text 5">
            <a:extLst>
              <a:ext uri="{FF2B5EF4-FFF2-40B4-BE49-F238E27FC236}">
                <a16:creationId xmlns:a16="http://schemas.microsoft.com/office/drawing/2014/main" id="{50CF85F3-34DE-E682-7434-588C67118EC6}"/>
              </a:ext>
            </a:extLst>
          </p:cNvPr>
          <p:cNvSpPr/>
          <p:nvPr/>
        </p:nvSpPr>
        <p:spPr>
          <a:xfrm>
            <a:off x="393558" y="2654609"/>
            <a:ext cx="6456722" cy="170111"/>
          </a:xfrm>
          <a:prstGeom prst="rect">
            <a:avLst/>
          </a:prstGeom>
          <a:noFill/>
          <a:ln/>
        </p:spPr>
        <p:txBody>
          <a:bodyPr wrap="none" lIns="0" tIns="0" rIns="0" bIns="0" rtlCol="0" anchor="t"/>
          <a:lstStyle/>
          <a:p>
            <a:pPr>
              <a:lnSpc>
                <a:spcPct val="133000"/>
              </a:lnSpc>
            </a:pPr>
            <a:r>
              <a:rPr lang="en-US" sz="1200" b="1" dirty="0">
                <a:solidFill>
                  <a:srgbClr val="272525"/>
                </a:solidFill>
                <a:latin typeface="Times New Roman" panose="02020603050405020304" pitchFamily="18" charset="0"/>
                <a:ea typeface="Inter Bold" pitchFamily="34" charset="-122"/>
                <a:cs typeface="Times New Roman" panose="02020603050405020304" pitchFamily="18" charset="0"/>
              </a:rPr>
              <a:t>Strategy → Analysis → Results</a:t>
            </a:r>
            <a:endParaRPr lang="en-US" sz="1200" b="1" dirty="0">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7E103C90-097A-CF8D-3A8D-15E02BA16D7E}"/>
              </a:ext>
            </a:extLst>
          </p:cNvPr>
          <p:cNvSpPr/>
          <p:nvPr/>
        </p:nvSpPr>
        <p:spPr>
          <a:xfrm>
            <a:off x="5589072" y="4086860"/>
            <a:ext cx="2981065" cy="1067411"/>
          </a:xfrm>
          <a:prstGeom prst="rect">
            <a:avLst/>
          </a:prstGeom>
          <a:noFill/>
          <a:ln/>
        </p:spPr>
        <p:txBody>
          <a:bodyPr wrap="square" lIns="0" tIns="0" rIns="0" bIns="0" rtlCol="0" anchor="t"/>
          <a:lstStyle/>
          <a:p>
            <a:pPr>
              <a:lnSpc>
                <a:spcPct val="133000"/>
              </a:lnSpc>
              <a:spcAft>
                <a:spcPts val="938"/>
              </a:spcAft>
            </a:pPr>
            <a:r>
              <a:rPr lang="en-US" sz="1050" b="1" dirty="0">
                <a:solidFill>
                  <a:srgbClr val="272525"/>
                </a:solidFill>
                <a:latin typeface="Times New Roman" panose="02020603050405020304" pitchFamily="18" charset="0"/>
                <a:ea typeface="Inter Bold" pitchFamily="34" charset="-122"/>
                <a:cs typeface="Times New Roman" panose="02020603050405020304" pitchFamily="18" charset="0"/>
              </a:rPr>
              <a:t>MBA Orientation 2026–28</a:t>
            </a:r>
            <a:endParaRPr lang="en-US" sz="1050" dirty="0">
              <a:latin typeface="Times New Roman" panose="02020603050405020304" pitchFamily="18" charset="0"/>
              <a:cs typeface="Times New Roman" panose="02020603050405020304" pitchFamily="18" charset="0"/>
            </a:endParaRPr>
          </a:p>
          <a:p>
            <a:pPr>
              <a:lnSpc>
                <a:spcPct val="133000"/>
              </a:lnSpc>
            </a:pPr>
            <a:r>
              <a:rPr lang="en-US" sz="1050" b="1" dirty="0">
                <a:solidFill>
                  <a:srgbClr val="272525"/>
                </a:solidFill>
                <a:latin typeface="Times New Roman" panose="02020603050405020304" pitchFamily="18" charset="0"/>
                <a:ea typeface="Inter Bold" pitchFamily="34" charset="-122"/>
                <a:cs typeface="Times New Roman" panose="02020603050405020304" pitchFamily="18" charset="0"/>
              </a:rPr>
              <a:t>Prepared Team D — Arnav Gupta • Sahil Singhal • Roshni Kumari • Hriday • Rishabh Solanki</a:t>
            </a:r>
            <a:endParaRPr lang="en-US" sz="1050"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372E2CD8-156E-4A44-8E11-58A79DB65676}"/>
              </a:ext>
            </a:extLst>
          </p:cNvPr>
          <p:cNvPicPr>
            <a:picLocks noChangeAspect="1"/>
          </p:cNvPicPr>
          <p:nvPr/>
        </p:nvPicPr>
        <p:blipFill>
          <a:blip r:embed="rId4"/>
          <a:stretch>
            <a:fillRect/>
          </a:stretch>
        </p:blipFill>
        <p:spPr>
          <a:xfrm>
            <a:off x="393557" y="720524"/>
            <a:ext cx="986759" cy="756047"/>
          </a:xfrm>
          <a:prstGeom prst="rect">
            <a:avLst/>
          </a:prstGeom>
        </p:spPr>
      </p:pic>
      <p:cxnSp>
        <p:nvCxnSpPr>
          <p:cNvPr id="31" name="Straight Connector 30">
            <a:extLst>
              <a:ext uri="{FF2B5EF4-FFF2-40B4-BE49-F238E27FC236}">
                <a16:creationId xmlns:a16="http://schemas.microsoft.com/office/drawing/2014/main" id="{A3AB0FBE-D7C1-0C63-13EA-71AB2D1117B9}"/>
              </a:ext>
            </a:extLst>
          </p:cNvPr>
          <p:cNvCxnSpPr>
            <a:cxnSpLocks/>
          </p:cNvCxnSpPr>
          <p:nvPr/>
        </p:nvCxnSpPr>
        <p:spPr>
          <a:xfrm>
            <a:off x="1512143" y="720524"/>
            <a:ext cx="0" cy="756047"/>
          </a:xfrm>
          <a:prstGeom prst="line">
            <a:avLst/>
          </a:prstGeom>
        </p:spPr>
        <p:style>
          <a:lnRef idx="1">
            <a:schemeClr val="dk1"/>
          </a:lnRef>
          <a:fillRef idx="0">
            <a:schemeClr val="dk1"/>
          </a:fillRef>
          <a:effectRef idx="0">
            <a:schemeClr val="dk1"/>
          </a:effectRef>
          <a:fontRef idx="minor">
            <a:schemeClr val="tx1"/>
          </a:fontRef>
        </p:style>
      </p:cxnSp>
      <p:pic>
        <p:nvPicPr>
          <p:cNvPr id="34" name="Picture 33">
            <a:extLst>
              <a:ext uri="{FF2B5EF4-FFF2-40B4-BE49-F238E27FC236}">
                <a16:creationId xmlns:a16="http://schemas.microsoft.com/office/drawing/2014/main" id="{E935150D-549B-0910-D6B5-CCF219DF584C}"/>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589072" y="634547"/>
            <a:ext cx="3182840" cy="2477930"/>
          </a:xfrm>
          <a:prstGeom prst="rect">
            <a:avLst/>
          </a:prstGeom>
        </p:spPr>
      </p:pic>
    </p:spTree>
    <p:extLst>
      <p:ext uri="{BB962C8B-B14F-4D97-AF65-F5344CB8AC3E}">
        <p14:creationId xmlns:p14="http://schemas.microsoft.com/office/powerpoint/2010/main" val="20397447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89855"/>
            <a:ext cx="8151763" cy="407045"/>
          </a:xfrm>
          <a:prstGeom prst="rect">
            <a:avLst/>
          </a:prstGeom>
          <a:noFill/>
          <a:ln/>
        </p:spPr>
        <p:txBody>
          <a:bodyPr wrap="none" lIns="0" tIns="0" rIns="0" bIns="0" rtlCol="0" anchor="t"/>
          <a:lstStyle/>
          <a:p>
            <a:pPr algn="ctr">
              <a:lnSpc>
                <a:spcPct val="104000"/>
              </a:lnSpc>
            </a:pPr>
            <a:r>
              <a:rPr lang="en-IN" sz="3200" b="1" dirty="0">
                <a:latin typeface="Times New Roman" panose="02020603050405020304" pitchFamily="18" charset="0"/>
                <a:cs typeface="Times New Roman" panose="02020603050405020304" pitchFamily="18" charset="0"/>
              </a:rPr>
              <a:t>Portfolio Overview</a:t>
            </a:r>
          </a:p>
        </p:txBody>
      </p:sp>
      <p:sp>
        <p:nvSpPr>
          <p:cNvPr id="3" name="Text 1"/>
          <p:cNvSpPr/>
          <p:nvPr/>
        </p:nvSpPr>
        <p:spPr>
          <a:xfrm>
            <a:off x="500807" y="919505"/>
            <a:ext cx="8151763" cy="203522"/>
          </a:xfrm>
          <a:prstGeom prst="rect">
            <a:avLst/>
          </a:prstGeom>
          <a:noFill/>
          <a:ln/>
        </p:spPr>
        <p:txBody>
          <a:bodyPr wrap="none" lIns="0" tIns="0" rIns="0" bIns="0" rtlCol="0" anchor="t"/>
          <a:lstStyle/>
          <a:p>
            <a:pPr marL="0" indent="0" algn="ctr">
              <a:lnSpc>
                <a:spcPct val="104000"/>
              </a:lnSpc>
              <a:buNone/>
            </a:pPr>
            <a:r>
              <a:rPr lang="en-US" sz="1250" b="1" dirty="0">
                <a:solidFill>
                  <a:srgbClr val="E67E22"/>
                </a:solidFill>
                <a:latin typeface="Petrona Bold" pitchFamily="34" charset="0"/>
                <a:ea typeface="Petrona Bold" pitchFamily="34" charset="-122"/>
                <a:cs typeface="Petrona Bold" pitchFamily="34" charset="-120"/>
              </a:rPr>
              <a:t>Portfolio Snapshot &amp; Investment Strategy</a:t>
            </a:r>
            <a:endParaRPr lang="en-US" sz="1250" dirty="0"/>
          </a:p>
        </p:txBody>
      </p:sp>
      <p:sp>
        <p:nvSpPr>
          <p:cNvPr id="4" name="Text 2"/>
          <p:cNvSpPr/>
          <p:nvPr/>
        </p:nvSpPr>
        <p:spPr>
          <a:xfrm>
            <a:off x="500807" y="1437226"/>
            <a:ext cx="3501851" cy="203522"/>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Times New Roman" panose="02020603050405020304" pitchFamily="18" charset="0"/>
                <a:ea typeface="Petrona Bold" pitchFamily="34" charset="-122"/>
                <a:cs typeface="Times New Roman" panose="02020603050405020304" pitchFamily="18" charset="0"/>
              </a:rPr>
              <a:t>Executive Snapshot</a:t>
            </a:r>
            <a:endParaRPr lang="en-US" sz="1250" dirty="0">
              <a:latin typeface="Times New Roman" panose="02020603050405020304" pitchFamily="18" charset="0"/>
              <a:cs typeface="Times New Roman" panose="02020603050405020304" pitchFamily="18" charset="0"/>
            </a:endParaRPr>
          </a:p>
        </p:txBody>
      </p:sp>
      <p:sp>
        <p:nvSpPr>
          <p:cNvPr id="5" name="Shape 3"/>
          <p:cNvSpPr/>
          <p:nvPr/>
        </p:nvSpPr>
        <p:spPr>
          <a:xfrm>
            <a:off x="466352" y="1697366"/>
            <a:ext cx="1696641" cy="1025426"/>
          </a:xfrm>
          <a:prstGeom prst="roundRect">
            <a:avLst>
              <a:gd name="adj" fmla="val 5081"/>
            </a:avLst>
          </a:prstGeom>
          <a:solidFill>
            <a:schemeClr val="bg2">
              <a:alpha val="95000"/>
            </a:schemeClr>
          </a:solidFill>
          <a:ln w="14288">
            <a:solidFill>
              <a:srgbClr val="B2D4E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6" name="Text 4"/>
          <p:cNvSpPr/>
          <p:nvPr/>
        </p:nvSpPr>
        <p:spPr>
          <a:xfrm>
            <a:off x="634380" y="1835627"/>
            <a:ext cx="1420118" cy="465237"/>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272525"/>
                </a:solidFill>
                <a:latin typeface="Times New Roman" panose="02020603050405020304" pitchFamily="18" charset="0"/>
                <a:ea typeface="Inter Bold" pitchFamily="34" charset="-122"/>
                <a:cs typeface="Times New Roman" panose="02020603050405020304" pitchFamily="18" charset="0"/>
              </a:rPr>
              <a:t>Total Capital Invested</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634380" y="2398495"/>
            <a:ext cx="1420118" cy="186035"/>
          </a:xfrm>
          <a:prstGeom prst="rect">
            <a:avLst/>
          </a:prstGeom>
          <a:noFill/>
          <a:ln/>
        </p:spPr>
        <p:txBody>
          <a:bodyPr wrap="none" lIns="0" tIns="0" rIns="0" bIns="0" rtlCol="0" anchor="t"/>
          <a:lstStyle/>
          <a:p>
            <a:pPr marL="0" indent="0" algn="l">
              <a:lnSpc>
                <a:spcPct val="125000"/>
              </a:lnSpc>
              <a:buNone/>
            </a:pPr>
            <a:r>
              <a:rPr lang="en-US" sz="1000" b="1" dirty="0">
                <a:solidFill>
                  <a:srgbClr val="272525"/>
                </a:solidFill>
                <a:latin typeface="Times New Roman" panose="02020603050405020304" pitchFamily="18" charset="0"/>
                <a:ea typeface="Inter Bold" pitchFamily="34" charset="-122"/>
                <a:cs typeface="Times New Roman" panose="02020603050405020304" pitchFamily="18" charset="0"/>
              </a:rPr>
              <a:t>₹9,99,976.72</a:t>
            </a:r>
            <a:endParaRPr lang="en-US" sz="1000" dirty="0">
              <a:latin typeface="Times New Roman" panose="02020603050405020304" pitchFamily="18" charset="0"/>
              <a:cs typeface="Times New Roman" panose="02020603050405020304" pitchFamily="18" charset="0"/>
            </a:endParaRPr>
          </a:p>
        </p:txBody>
      </p:sp>
      <p:sp>
        <p:nvSpPr>
          <p:cNvPr id="8" name="Shape 6"/>
          <p:cNvSpPr/>
          <p:nvPr/>
        </p:nvSpPr>
        <p:spPr>
          <a:xfrm>
            <a:off x="2301255" y="1697366"/>
            <a:ext cx="1696715" cy="1025426"/>
          </a:xfrm>
          <a:prstGeom prst="roundRect">
            <a:avLst>
              <a:gd name="adj" fmla="val 5081"/>
            </a:avLst>
          </a:prstGeom>
          <a:solidFill>
            <a:schemeClr val="bg2">
              <a:alpha val="95000"/>
            </a:schemeClr>
          </a:solidFill>
          <a:ln w="14288">
            <a:solidFill>
              <a:srgbClr val="B2D4E5"/>
            </a:solidFill>
            <a:prstDash val="solid"/>
          </a:ln>
        </p:spPr>
        <p:txBody>
          <a:bodyPr/>
          <a:lstStyle/>
          <a:p>
            <a:endParaRPr lang="en-IN" dirty="0"/>
          </a:p>
        </p:txBody>
      </p:sp>
      <p:sp>
        <p:nvSpPr>
          <p:cNvPr id="9" name="Text 7"/>
          <p:cNvSpPr/>
          <p:nvPr/>
        </p:nvSpPr>
        <p:spPr>
          <a:xfrm>
            <a:off x="2439516" y="1835627"/>
            <a:ext cx="1420192" cy="465237"/>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272525"/>
                </a:solidFill>
                <a:latin typeface="Times New Roman" panose="02020603050405020304" pitchFamily="18" charset="0"/>
                <a:ea typeface="Inter Bold" pitchFamily="34" charset="-122"/>
                <a:cs typeface="Times New Roman" panose="02020603050405020304" pitchFamily="18" charset="0"/>
              </a:rPr>
              <a:t>Number of Companies</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2439516" y="2398495"/>
            <a:ext cx="1420192" cy="186035"/>
          </a:xfrm>
          <a:prstGeom prst="rect">
            <a:avLst/>
          </a:prstGeom>
          <a:noFill/>
          <a:ln/>
        </p:spPr>
        <p:txBody>
          <a:bodyPr wrap="none" lIns="0" tIns="0" rIns="0" bIns="0" rtlCol="0" anchor="t"/>
          <a:lstStyle/>
          <a:p>
            <a:pPr marL="0" indent="0" algn="l">
              <a:lnSpc>
                <a:spcPct val="125000"/>
              </a:lnSpc>
              <a:buNone/>
            </a:pPr>
            <a:r>
              <a:rPr lang="en-US" sz="1000" b="1" dirty="0">
                <a:solidFill>
                  <a:srgbClr val="272525"/>
                </a:solidFill>
                <a:latin typeface="Times New Roman" panose="02020603050405020304" pitchFamily="18" charset="0"/>
                <a:ea typeface="Inter Bold" pitchFamily="34" charset="-122"/>
                <a:cs typeface="Times New Roman" panose="02020603050405020304" pitchFamily="18" charset="0"/>
              </a:rPr>
              <a:t>7</a:t>
            </a:r>
            <a:endParaRPr lang="en-US" sz="950" b="1" dirty="0">
              <a:latin typeface="Times New Roman" panose="02020603050405020304" pitchFamily="18" charset="0"/>
              <a:cs typeface="Times New Roman" panose="02020603050405020304" pitchFamily="18" charset="0"/>
            </a:endParaRPr>
          </a:p>
        </p:txBody>
      </p:sp>
      <p:sp>
        <p:nvSpPr>
          <p:cNvPr id="11" name="Shape 9"/>
          <p:cNvSpPr/>
          <p:nvPr/>
        </p:nvSpPr>
        <p:spPr>
          <a:xfrm>
            <a:off x="466316" y="2861053"/>
            <a:ext cx="1696641" cy="644509"/>
          </a:xfrm>
          <a:prstGeom prst="roundRect">
            <a:avLst>
              <a:gd name="adj" fmla="val 5081"/>
            </a:avLst>
          </a:prstGeom>
          <a:solidFill>
            <a:schemeClr val="bg2">
              <a:alpha val="95000"/>
            </a:schemeClr>
          </a:solidFill>
          <a:ln w="14288">
            <a:solidFill>
              <a:srgbClr val="B2D4E5"/>
            </a:solidFill>
            <a:prstDash val="solid"/>
          </a:ln>
        </p:spPr>
        <p:txBody>
          <a:bodyPr/>
          <a:lstStyle/>
          <a:p>
            <a:endParaRPr lang="en-IN" dirty="0">
              <a:latin typeface="Times New Roman" panose="02020603050405020304" pitchFamily="18" charset="0"/>
              <a:cs typeface="Times New Roman" panose="02020603050405020304" pitchFamily="18" charset="0"/>
            </a:endParaRPr>
          </a:p>
        </p:txBody>
      </p:sp>
      <p:sp>
        <p:nvSpPr>
          <p:cNvPr id="12" name="Text 10"/>
          <p:cNvSpPr/>
          <p:nvPr/>
        </p:nvSpPr>
        <p:spPr>
          <a:xfrm>
            <a:off x="634380" y="2969549"/>
            <a:ext cx="1420118" cy="465237"/>
          </a:xfrm>
          <a:prstGeom prst="rect">
            <a:avLst/>
          </a:prstGeom>
          <a:noFill/>
          <a:ln/>
        </p:spPr>
        <p:txBody>
          <a:bodyPr wrap="square" lIns="0" tIns="0" rIns="0" bIns="0" rtlCol="0" anchor="t">
            <a:normAutofit/>
          </a:bodyPr>
          <a:lstStyle/>
          <a:p>
            <a:pPr marL="0" indent="0" algn="l">
              <a:lnSpc>
                <a:spcPct val="125000"/>
              </a:lnSpc>
              <a:buNone/>
            </a:pPr>
            <a:r>
              <a:rPr lang="en-US" sz="1200" b="1" dirty="0">
                <a:solidFill>
                  <a:srgbClr val="272525"/>
                </a:solidFill>
                <a:latin typeface="Times New Roman" panose="02020603050405020304" pitchFamily="18" charset="0"/>
                <a:ea typeface="Inter Bold" pitchFamily="34" charset="-122"/>
                <a:cs typeface="Times New Roman" panose="02020603050405020304" pitchFamily="18" charset="0"/>
              </a:rPr>
              <a:t>Number of Sectors</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634763" y="3252596"/>
            <a:ext cx="1420118" cy="186035"/>
          </a:xfrm>
          <a:prstGeom prst="rect">
            <a:avLst/>
          </a:prstGeom>
          <a:noFill/>
          <a:ln/>
        </p:spPr>
        <p:txBody>
          <a:bodyPr wrap="none" lIns="0" tIns="0" rIns="0" bIns="0" rtlCol="0" anchor="t"/>
          <a:lstStyle/>
          <a:p>
            <a:pPr marL="0" indent="0" algn="l">
              <a:lnSpc>
                <a:spcPct val="125000"/>
              </a:lnSpc>
              <a:buNone/>
            </a:pPr>
            <a:r>
              <a:rPr lang="en-US" sz="950" b="1" dirty="0">
                <a:solidFill>
                  <a:srgbClr val="272525"/>
                </a:solidFill>
                <a:latin typeface="Times New Roman" panose="02020603050405020304" pitchFamily="18" charset="0"/>
                <a:ea typeface="Inter Bold" pitchFamily="34" charset="-122"/>
                <a:cs typeface="Times New Roman" panose="02020603050405020304" pitchFamily="18" charset="0"/>
              </a:rPr>
              <a:t>7</a:t>
            </a:r>
            <a:endParaRPr lang="en-US" sz="950" dirty="0">
              <a:latin typeface="Times New Roman" panose="02020603050405020304" pitchFamily="18" charset="0"/>
              <a:cs typeface="Times New Roman" panose="02020603050405020304" pitchFamily="18" charset="0"/>
            </a:endParaRPr>
          </a:p>
        </p:txBody>
      </p:sp>
      <p:sp>
        <p:nvSpPr>
          <p:cNvPr id="14" name="Shape 12"/>
          <p:cNvSpPr/>
          <p:nvPr/>
        </p:nvSpPr>
        <p:spPr>
          <a:xfrm>
            <a:off x="2296530" y="2861053"/>
            <a:ext cx="1696715" cy="644509"/>
          </a:xfrm>
          <a:prstGeom prst="roundRect">
            <a:avLst>
              <a:gd name="adj" fmla="val 5081"/>
            </a:avLst>
          </a:prstGeom>
          <a:solidFill>
            <a:schemeClr val="bg2">
              <a:alpha val="95000"/>
            </a:schemeClr>
          </a:solidFill>
          <a:ln w="14288">
            <a:solidFill>
              <a:srgbClr val="B2D4E5"/>
            </a:solidFill>
            <a:prstDash val="solid"/>
          </a:ln>
        </p:spPr>
        <p:txBody>
          <a:bodyPr/>
          <a:lstStyle/>
          <a:p>
            <a:endParaRPr lang="en-IN" dirty="0">
              <a:latin typeface="Times New Roman" panose="02020603050405020304" pitchFamily="18" charset="0"/>
              <a:cs typeface="Times New Roman" panose="02020603050405020304" pitchFamily="18" charset="0"/>
            </a:endParaRPr>
          </a:p>
        </p:txBody>
      </p:sp>
      <p:sp>
        <p:nvSpPr>
          <p:cNvPr id="15" name="Text 13"/>
          <p:cNvSpPr/>
          <p:nvPr/>
        </p:nvSpPr>
        <p:spPr>
          <a:xfrm>
            <a:off x="2439516" y="2969549"/>
            <a:ext cx="1420192" cy="232618"/>
          </a:xfrm>
          <a:prstGeom prst="rect">
            <a:avLst/>
          </a:prstGeom>
          <a:noFill/>
          <a:ln/>
        </p:spPr>
        <p:txBody>
          <a:bodyPr wrap="none" lIns="0" tIns="0" rIns="0" bIns="0" rtlCol="0" anchor="t"/>
          <a:lstStyle/>
          <a:p>
            <a:r>
              <a:rPr lang="en-IN" sz="1200" b="1" dirty="0">
                <a:latin typeface="Times New Roman" panose="02020603050405020304" pitchFamily="18" charset="0"/>
                <a:cs typeface="Times New Roman" panose="02020603050405020304" pitchFamily="18" charset="0"/>
              </a:rPr>
              <a:t>Capital Utilized</a:t>
            </a:r>
            <a:endParaRPr lang="en-IN" sz="1200" dirty="0">
              <a:latin typeface="Times New Roman" panose="02020603050405020304" pitchFamily="18" charset="0"/>
              <a:cs typeface="Times New Roman" panose="02020603050405020304" pitchFamily="18" charset="0"/>
            </a:endParaRPr>
          </a:p>
          <a:p>
            <a:endParaRPr lang="en-IN" sz="1200" dirty="0"/>
          </a:p>
        </p:txBody>
      </p:sp>
      <p:sp>
        <p:nvSpPr>
          <p:cNvPr id="16" name="Text 14"/>
          <p:cNvSpPr/>
          <p:nvPr/>
        </p:nvSpPr>
        <p:spPr>
          <a:xfrm>
            <a:off x="2456898" y="3206307"/>
            <a:ext cx="1420192" cy="372070"/>
          </a:xfrm>
          <a:prstGeom prst="rect">
            <a:avLst/>
          </a:prstGeom>
          <a:noFill/>
          <a:ln/>
        </p:spPr>
        <p:txBody>
          <a:bodyPr wrap="square" lIns="0" tIns="0" rIns="0" bIns="0" rtlCol="0" anchor="t">
            <a:normAutofit/>
          </a:bodyPr>
          <a:lstStyle/>
          <a:p>
            <a:pPr>
              <a:lnSpc>
                <a:spcPct val="125000"/>
              </a:lnSpc>
            </a:pPr>
            <a:r>
              <a:rPr lang="en-IN" sz="1000" b="1" dirty="0">
                <a:latin typeface="Times New Roman" panose="02020603050405020304" pitchFamily="18" charset="0"/>
                <a:cs typeface="Times New Roman" panose="02020603050405020304" pitchFamily="18" charset="0"/>
              </a:rPr>
              <a:t>99.99%</a:t>
            </a:r>
            <a:endParaRPr lang="en-IN" sz="1000" dirty="0">
              <a:latin typeface="Times New Roman" panose="02020603050405020304" pitchFamily="18" charset="0"/>
              <a:cs typeface="Times New Roman" panose="02020603050405020304" pitchFamily="18" charset="0"/>
            </a:endParaRPr>
          </a:p>
          <a:p>
            <a:pPr marL="0" indent="0" algn="l">
              <a:lnSpc>
                <a:spcPct val="125000"/>
              </a:lnSpc>
              <a:buNone/>
            </a:pPr>
            <a:endParaRPr lang="en-US" sz="950" dirty="0">
              <a:latin typeface="Times New Roman" panose="02020603050405020304" pitchFamily="18" charset="0"/>
              <a:cs typeface="Times New Roman" panose="02020603050405020304" pitchFamily="18" charset="0"/>
            </a:endParaRPr>
          </a:p>
        </p:txBody>
      </p:sp>
      <p:sp>
        <p:nvSpPr>
          <p:cNvPr id="17" name="Text 15"/>
          <p:cNvSpPr/>
          <p:nvPr/>
        </p:nvSpPr>
        <p:spPr>
          <a:xfrm>
            <a:off x="4305300" y="1437226"/>
            <a:ext cx="4347270" cy="203522"/>
          </a:xfrm>
          <a:prstGeom prst="rect">
            <a:avLst/>
          </a:prstGeom>
          <a:noFill/>
          <a:ln/>
        </p:spPr>
        <p:txBody>
          <a:bodyPr wrap="none" lIns="0" tIns="0" rIns="0" bIns="0" rtlCol="0" anchor="t"/>
          <a:lstStyle/>
          <a:p>
            <a:pPr marL="0" indent="0" algn="l">
              <a:lnSpc>
                <a:spcPct val="104000"/>
              </a:lnSpc>
              <a:buNone/>
            </a:pPr>
            <a:r>
              <a:rPr lang="en-US" sz="1250" b="1" dirty="0">
                <a:solidFill>
                  <a:srgbClr val="000000"/>
                </a:solidFill>
                <a:latin typeface="Petrona Bold" pitchFamily="34" charset="0"/>
                <a:ea typeface="Petrona Bold" pitchFamily="34" charset="-122"/>
                <a:cs typeface="Petrona Bold" pitchFamily="34" charset="-120"/>
              </a:rPr>
              <a:t>Portfolio Allocation</a:t>
            </a:r>
            <a:endParaRPr lang="en-US" sz="1250" dirty="0"/>
          </a:p>
        </p:txBody>
      </p:sp>
      <p:pic>
        <p:nvPicPr>
          <p:cNvPr id="18" name="Image 0" descr="preencoded.png"/>
          <p:cNvPicPr>
            <a:picLocks noChangeAspect="1"/>
          </p:cNvPicPr>
          <p:nvPr/>
        </p:nvPicPr>
        <p:blipFill>
          <a:blip r:embed="rId3"/>
          <a:srcRect r="3984" b="16644"/>
          <a:stretch>
            <a:fillRect/>
          </a:stretch>
        </p:blipFill>
        <p:spPr>
          <a:xfrm>
            <a:off x="4305300" y="1538987"/>
            <a:ext cx="4858133" cy="3131765"/>
          </a:xfrm>
          <a:prstGeom prst="rect">
            <a:avLst/>
          </a:prstGeom>
        </p:spPr>
      </p:pic>
      <p:sp>
        <p:nvSpPr>
          <p:cNvPr id="19" name="Text 16"/>
          <p:cNvSpPr/>
          <p:nvPr/>
        </p:nvSpPr>
        <p:spPr>
          <a:xfrm>
            <a:off x="4076700" y="4456584"/>
            <a:ext cx="4804470" cy="148903"/>
          </a:xfrm>
          <a:prstGeom prst="rect">
            <a:avLst/>
          </a:prstGeom>
          <a:noFill/>
          <a:ln/>
        </p:spPr>
        <p:txBody>
          <a:bodyPr wrap="none" lIns="0" tIns="0" rIns="0" bIns="0" rtlCol="0" anchor="t"/>
          <a:lstStyle/>
          <a:p>
            <a:pPr marL="0" indent="0" algn="ctr">
              <a:lnSpc>
                <a:spcPct val="125000"/>
              </a:lnSpc>
              <a:buNone/>
            </a:pPr>
            <a:endParaRPr lang="en-US" sz="750" dirty="0"/>
          </a:p>
        </p:txBody>
      </p:sp>
      <p:pic>
        <p:nvPicPr>
          <p:cNvPr id="34" name="Picture Placeholder 6" descr="A group of horses running in the dust">
            <a:extLst>
              <a:ext uri="{FF2B5EF4-FFF2-40B4-BE49-F238E27FC236}">
                <a16:creationId xmlns:a16="http://schemas.microsoft.com/office/drawing/2014/main" id="{B067B831-43FC-61EC-8410-CA6B8DCD70BD}"/>
              </a:ext>
            </a:extLst>
          </p:cNvPr>
          <p:cNvPicPr>
            <a:picLocks noChangeAspect="1"/>
          </p:cNvPicPr>
          <p:nvPr/>
        </p:nvPicPr>
        <p:blipFill>
          <a:blip r:embed="rId4">
            <a:alphaModFix amt="25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p:blipFill>
        <p:spPr>
          <a:xfrm>
            <a:off x="0" y="-9943"/>
            <a:ext cx="9143999" cy="1364732"/>
          </a:xfrm>
          <a:prstGeom prst="rect">
            <a:avLst/>
          </a:prstGeom>
          <a:noFill/>
        </p:spPr>
      </p:pic>
      <p:sp>
        <p:nvSpPr>
          <p:cNvPr id="36" name="Shape 9">
            <a:extLst>
              <a:ext uri="{FF2B5EF4-FFF2-40B4-BE49-F238E27FC236}">
                <a16:creationId xmlns:a16="http://schemas.microsoft.com/office/drawing/2014/main" id="{A2E16CFD-258D-4D24-0212-0AF18E847075}"/>
              </a:ext>
            </a:extLst>
          </p:cNvPr>
          <p:cNvSpPr/>
          <p:nvPr/>
        </p:nvSpPr>
        <p:spPr>
          <a:xfrm>
            <a:off x="466315" y="3633755"/>
            <a:ext cx="1696641" cy="1025426"/>
          </a:xfrm>
          <a:prstGeom prst="roundRect">
            <a:avLst>
              <a:gd name="adj" fmla="val 5081"/>
            </a:avLst>
          </a:prstGeom>
          <a:solidFill>
            <a:schemeClr val="bg2">
              <a:alpha val="95000"/>
            </a:schemeClr>
          </a:solidFill>
          <a:ln w="14288">
            <a:solidFill>
              <a:srgbClr val="B2D4E5"/>
            </a:solidFill>
            <a:prstDash val="solid"/>
          </a:ln>
        </p:spPr>
        <p:txBody>
          <a:bodyPr/>
          <a:lstStyle/>
          <a:p>
            <a:endParaRPr lang="en-IN"/>
          </a:p>
        </p:txBody>
      </p:sp>
      <p:sp>
        <p:nvSpPr>
          <p:cNvPr id="38" name="Shape 9">
            <a:extLst>
              <a:ext uri="{FF2B5EF4-FFF2-40B4-BE49-F238E27FC236}">
                <a16:creationId xmlns:a16="http://schemas.microsoft.com/office/drawing/2014/main" id="{A1978E54-603A-E2C3-F6B5-D5B64765FE1D}"/>
              </a:ext>
            </a:extLst>
          </p:cNvPr>
          <p:cNvSpPr/>
          <p:nvPr/>
        </p:nvSpPr>
        <p:spPr>
          <a:xfrm>
            <a:off x="2315356" y="3633755"/>
            <a:ext cx="1696641" cy="1025426"/>
          </a:xfrm>
          <a:prstGeom prst="roundRect">
            <a:avLst>
              <a:gd name="adj" fmla="val 5081"/>
            </a:avLst>
          </a:prstGeom>
          <a:solidFill>
            <a:schemeClr val="bg2">
              <a:alpha val="95000"/>
            </a:schemeClr>
          </a:solidFill>
          <a:ln w="14288">
            <a:solidFill>
              <a:srgbClr val="B2D4E5"/>
            </a:solidFill>
            <a:prstDash val="solid"/>
          </a:ln>
        </p:spPr>
        <p:txBody>
          <a:bodyPr/>
          <a:lstStyle/>
          <a:p>
            <a:endParaRPr lang="en-IN" dirty="0"/>
          </a:p>
        </p:txBody>
      </p:sp>
      <p:sp>
        <p:nvSpPr>
          <p:cNvPr id="40" name="Text 13">
            <a:extLst>
              <a:ext uri="{FF2B5EF4-FFF2-40B4-BE49-F238E27FC236}">
                <a16:creationId xmlns:a16="http://schemas.microsoft.com/office/drawing/2014/main" id="{71ABAAFF-B8F5-DAC8-D7E0-FDFC17640019}"/>
              </a:ext>
            </a:extLst>
          </p:cNvPr>
          <p:cNvSpPr/>
          <p:nvPr/>
        </p:nvSpPr>
        <p:spPr>
          <a:xfrm>
            <a:off x="634689" y="3713960"/>
            <a:ext cx="1420192" cy="232618"/>
          </a:xfrm>
          <a:prstGeom prst="rect">
            <a:avLst/>
          </a:prstGeom>
          <a:noFill/>
          <a:ln/>
        </p:spPr>
        <p:txBody>
          <a:bodyPr wrap="none" lIns="0" tIns="0" rIns="0" bIns="0" rtlCol="0" anchor="t"/>
          <a:lstStyle/>
          <a:p>
            <a:pPr marL="0" indent="0" algn="l">
              <a:lnSpc>
                <a:spcPct val="125000"/>
              </a:lnSpc>
              <a:buNone/>
            </a:pPr>
            <a:r>
              <a:rPr lang="en-US" sz="1200" b="1" dirty="0">
                <a:solidFill>
                  <a:srgbClr val="272525"/>
                </a:solidFill>
                <a:latin typeface="Times New Roman" panose="02020603050405020304" pitchFamily="18" charset="0"/>
                <a:ea typeface="Inter Bold" pitchFamily="34" charset="-122"/>
                <a:cs typeface="Times New Roman" panose="02020603050405020304" pitchFamily="18" charset="0"/>
              </a:rPr>
              <a:t>Evaluation Period</a:t>
            </a:r>
            <a:endParaRPr lang="en-US" sz="1200" dirty="0">
              <a:latin typeface="Times New Roman" panose="02020603050405020304" pitchFamily="18" charset="0"/>
              <a:cs typeface="Times New Roman" panose="02020603050405020304" pitchFamily="18" charset="0"/>
            </a:endParaRPr>
          </a:p>
        </p:txBody>
      </p:sp>
      <p:sp>
        <p:nvSpPr>
          <p:cNvPr id="42" name="Text 13">
            <a:extLst>
              <a:ext uri="{FF2B5EF4-FFF2-40B4-BE49-F238E27FC236}">
                <a16:creationId xmlns:a16="http://schemas.microsoft.com/office/drawing/2014/main" id="{7DD2FF1B-7277-662A-9AA2-2F082B5D8E77}"/>
              </a:ext>
            </a:extLst>
          </p:cNvPr>
          <p:cNvSpPr/>
          <p:nvPr/>
        </p:nvSpPr>
        <p:spPr>
          <a:xfrm>
            <a:off x="2431152" y="3713960"/>
            <a:ext cx="1420192" cy="232618"/>
          </a:xfrm>
          <a:prstGeom prst="rect">
            <a:avLst/>
          </a:prstGeom>
          <a:noFill/>
          <a:ln/>
        </p:spPr>
        <p:txBody>
          <a:bodyPr wrap="none" lIns="0" tIns="0" rIns="0" bIns="0" rtlCol="0" anchor="t"/>
          <a:lstStyle/>
          <a:p>
            <a:r>
              <a:rPr lang="en-IN" sz="1200" b="1" dirty="0">
                <a:latin typeface="Times New Roman" panose="02020603050405020304" pitchFamily="18" charset="0"/>
                <a:cs typeface="Times New Roman" panose="02020603050405020304" pitchFamily="18" charset="0"/>
              </a:rPr>
              <a:t>Investment Strategy</a:t>
            </a:r>
            <a:endParaRPr lang="en-IN" sz="1200" dirty="0">
              <a:latin typeface="Times New Roman" panose="02020603050405020304" pitchFamily="18" charset="0"/>
              <a:cs typeface="Times New Roman" panose="02020603050405020304" pitchFamily="18" charset="0"/>
            </a:endParaRPr>
          </a:p>
        </p:txBody>
      </p:sp>
      <p:sp>
        <p:nvSpPr>
          <p:cNvPr id="44" name="Text 14">
            <a:extLst>
              <a:ext uri="{FF2B5EF4-FFF2-40B4-BE49-F238E27FC236}">
                <a16:creationId xmlns:a16="http://schemas.microsoft.com/office/drawing/2014/main" id="{E500A20A-47EF-0675-CC07-66FC41C0C6E1}"/>
              </a:ext>
            </a:extLst>
          </p:cNvPr>
          <p:cNvSpPr/>
          <p:nvPr/>
        </p:nvSpPr>
        <p:spPr>
          <a:xfrm>
            <a:off x="634306" y="4068306"/>
            <a:ext cx="1420192" cy="372070"/>
          </a:xfrm>
          <a:prstGeom prst="rect">
            <a:avLst/>
          </a:prstGeom>
          <a:noFill/>
          <a:ln/>
        </p:spPr>
        <p:txBody>
          <a:bodyPr wrap="square" lIns="0" tIns="0" rIns="0" bIns="0" rtlCol="0" anchor="t">
            <a:normAutofit/>
          </a:bodyPr>
          <a:lstStyle/>
          <a:p>
            <a:pPr marL="0" indent="0" algn="l">
              <a:lnSpc>
                <a:spcPct val="125000"/>
              </a:lnSpc>
              <a:buNone/>
            </a:pPr>
            <a:r>
              <a:rPr lang="en-US" sz="1000" b="1" dirty="0">
                <a:solidFill>
                  <a:srgbClr val="272525"/>
                </a:solidFill>
                <a:latin typeface="Times New Roman" panose="02020603050405020304" pitchFamily="18" charset="0"/>
                <a:ea typeface="Inter Bold" pitchFamily="34" charset="-122"/>
                <a:cs typeface="Times New Roman" panose="02020603050405020304" pitchFamily="18" charset="0"/>
              </a:rPr>
              <a:t>3 Aug 2026 → 4 Aug 2026</a:t>
            </a:r>
            <a:endParaRPr lang="en-US" sz="1000" dirty="0">
              <a:latin typeface="Times New Roman" panose="02020603050405020304" pitchFamily="18" charset="0"/>
              <a:cs typeface="Times New Roman" panose="02020603050405020304" pitchFamily="18" charset="0"/>
            </a:endParaRPr>
          </a:p>
        </p:txBody>
      </p:sp>
      <p:sp>
        <p:nvSpPr>
          <p:cNvPr id="46" name="Text 14">
            <a:extLst>
              <a:ext uri="{FF2B5EF4-FFF2-40B4-BE49-F238E27FC236}">
                <a16:creationId xmlns:a16="http://schemas.microsoft.com/office/drawing/2014/main" id="{BF151693-8CC9-714C-E609-1983F18CB9BA}"/>
              </a:ext>
            </a:extLst>
          </p:cNvPr>
          <p:cNvSpPr/>
          <p:nvPr/>
        </p:nvSpPr>
        <p:spPr>
          <a:xfrm>
            <a:off x="2439516" y="4065599"/>
            <a:ext cx="1420192" cy="372070"/>
          </a:xfrm>
          <a:prstGeom prst="rect">
            <a:avLst/>
          </a:prstGeom>
          <a:noFill/>
          <a:ln/>
        </p:spPr>
        <p:txBody>
          <a:bodyPr wrap="square" lIns="0" tIns="0" rIns="0" bIns="0" rtlCol="0" anchor="t">
            <a:normAutofit/>
          </a:bodyPr>
          <a:lstStyle/>
          <a:p>
            <a:r>
              <a:rPr lang="en-IN" sz="1000" b="1" dirty="0">
                <a:latin typeface="Times New Roman" panose="02020603050405020304" pitchFamily="18" charset="0"/>
                <a:cs typeface="Times New Roman" panose="02020603050405020304" pitchFamily="18" charset="0"/>
              </a:rPr>
              <a:t>Diversified Growth Portfolio</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36" grpId="0" animBg="1"/>
      <p:bldP spid="38" grpId="0" animBg="1"/>
      <p:bldP spid="40" grpId="0" animBg="1"/>
      <p:bldP spid="42" grpId="0" animBg="1"/>
      <p:bldP spid="44" grpId="0" animBg="1"/>
      <p:bldP spid="4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81109"/>
            <a:ext cx="8151763" cy="421556"/>
          </a:xfrm>
          <a:prstGeom prst="rect">
            <a:avLst/>
          </a:prstGeom>
          <a:noFill/>
          <a:ln/>
        </p:spPr>
        <p:txBody>
          <a:bodyPr wrap="none" lIns="0" tIns="0" rIns="0" bIns="0" rtlCol="0" anchor="t"/>
          <a:lstStyle/>
          <a:p>
            <a:pPr marL="0" indent="0" algn="ctr">
              <a:lnSpc>
                <a:spcPct val="104000"/>
              </a:lnSpc>
              <a:buNone/>
            </a:pPr>
            <a:r>
              <a:rPr lang="en-US" sz="2650" b="1" dirty="0">
                <a:solidFill>
                  <a:srgbClr val="000000"/>
                </a:solidFill>
                <a:latin typeface="Petrona Bold" pitchFamily="34" charset="0"/>
                <a:ea typeface="Petrona Bold" pitchFamily="34" charset="-122"/>
                <a:cs typeface="Petrona Bold" pitchFamily="34" charset="-120"/>
              </a:rPr>
              <a:t>Portfolio Allocation Strategy</a:t>
            </a:r>
            <a:endParaRPr lang="en-US" sz="2650" dirty="0"/>
          </a:p>
        </p:txBody>
      </p:sp>
      <p:sp>
        <p:nvSpPr>
          <p:cNvPr id="3" name="Text 1"/>
          <p:cNvSpPr/>
          <p:nvPr/>
        </p:nvSpPr>
        <p:spPr>
          <a:xfrm>
            <a:off x="496119" y="773388"/>
            <a:ext cx="8151763" cy="421481"/>
          </a:xfrm>
          <a:prstGeom prst="rect">
            <a:avLst/>
          </a:prstGeom>
          <a:noFill/>
          <a:ln/>
        </p:spPr>
        <p:txBody>
          <a:bodyPr wrap="square" lIns="0" tIns="0" rIns="0" bIns="0" rtlCol="0" anchor="t">
            <a:normAutofit lnSpcReduction="10000"/>
          </a:bodyPr>
          <a:lstStyle/>
          <a:p>
            <a:pPr algn="ctr">
              <a:lnSpc>
                <a:spcPct val="104000"/>
              </a:lnSpc>
            </a:pPr>
            <a:r>
              <a:rPr lang="en-IN" sz="1400" dirty="0">
                <a:latin typeface="Times New Roman" panose="02020603050405020304" pitchFamily="18" charset="0"/>
                <a:cs typeface="Times New Roman" panose="02020603050405020304" pitchFamily="18" charset="0"/>
              </a:rPr>
              <a:t>Capital allocation was driven by investment conviction, expected growth potential, and prudent portfolio diversification.</a:t>
            </a:r>
            <a:endParaRPr lang="en-US" sz="16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697432"/>
            <a:ext cx="2639616" cy="1479073"/>
          </a:xfrm>
          <a:prstGeom prst="rect">
            <a:avLst/>
          </a:prstGeom>
        </p:spPr>
      </p:pic>
      <p:sp>
        <p:nvSpPr>
          <p:cNvPr id="6" name="Text 3"/>
          <p:cNvSpPr/>
          <p:nvPr/>
        </p:nvSpPr>
        <p:spPr>
          <a:xfrm>
            <a:off x="695995" y="1840158"/>
            <a:ext cx="2297013" cy="210741"/>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Times New Roman" panose="02020603050405020304" pitchFamily="18" charset="0"/>
                <a:ea typeface="Petrona Bold" pitchFamily="34" charset="-122"/>
                <a:cs typeface="Times New Roman" panose="02020603050405020304" pitchFamily="18" charset="0"/>
              </a:rPr>
              <a:t>Core Holdings  </a:t>
            </a:r>
            <a:r>
              <a:rPr lang="en-US" sz="1300" b="1" dirty="0">
                <a:solidFill>
                  <a:srgbClr val="00B050"/>
                </a:solidFill>
                <a:latin typeface="Times New Roman" panose="02020603050405020304" pitchFamily="18" charset="0"/>
                <a:cs typeface="Times New Roman" panose="02020603050405020304" pitchFamily="18" charset="0"/>
              </a:rPr>
              <a:t>52.79%</a:t>
            </a:r>
          </a:p>
        </p:txBody>
      </p:sp>
      <p:sp>
        <p:nvSpPr>
          <p:cNvPr id="7" name="Text 4"/>
          <p:cNvSpPr/>
          <p:nvPr/>
        </p:nvSpPr>
        <p:spPr>
          <a:xfrm>
            <a:off x="695995" y="2120699"/>
            <a:ext cx="2297013" cy="391864"/>
          </a:xfrm>
          <a:prstGeom prst="rect">
            <a:avLst/>
          </a:prstGeom>
          <a:noFill/>
          <a:ln/>
        </p:spPr>
        <p:txBody>
          <a:bodyPr wrap="square" lIns="0" tIns="0" rIns="0" bIns="0" rtlCol="0" anchor="t">
            <a:normAutofit/>
          </a:bodyPr>
          <a:lstStyle/>
          <a:p>
            <a:pPr>
              <a:lnSpc>
                <a:spcPct val="127000"/>
              </a:lnSpc>
            </a:pPr>
            <a:r>
              <a:rPr lang="en-IN" sz="1000" dirty="0">
                <a:latin typeface="Times New Roman" panose="02020603050405020304" pitchFamily="18" charset="0"/>
                <a:cs typeface="Times New Roman" panose="02020603050405020304" pitchFamily="18" charset="0"/>
              </a:rPr>
              <a:t>Foundation of the portfolio built on high-conviction investments.</a:t>
            </a:r>
            <a:endParaRPr lang="en-US" sz="1000" dirty="0">
              <a:latin typeface="Times New Roman" panose="02020603050405020304" pitchFamily="18" charset="0"/>
              <a:cs typeface="Times New Roman" panose="02020603050405020304" pitchFamily="18" charset="0"/>
            </a:endParaRPr>
          </a:p>
        </p:txBody>
      </p:sp>
      <p:sp>
        <p:nvSpPr>
          <p:cNvPr id="8" name="Text 5"/>
          <p:cNvSpPr/>
          <p:nvPr/>
        </p:nvSpPr>
        <p:spPr>
          <a:xfrm>
            <a:off x="695995" y="2582364"/>
            <a:ext cx="2297013" cy="432569"/>
          </a:xfrm>
          <a:prstGeom prst="rect">
            <a:avLst/>
          </a:prstGeom>
          <a:noFill/>
          <a:ln/>
        </p:spPr>
        <p:txBody>
          <a:bodyPr wrap="square" lIns="0" tIns="0" rIns="0" bIns="0" rtlCol="0" anchor="t">
            <a:normAutofit/>
          </a:bodyPr>
          <a:lstStyle/>
          <a:p>
            <a:pPr marL="203200" indent="-203200" algn="l">
              <a:lnSpc>
                <a:spcPct val="127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Divi's Laboratories</a:t>
            </a:r>
            <a:endParaRPr lang="en-US" sz="1050" dirty="0">
              <a:latin typeface="Times New Roman" panose="02020603050405020304" pitchFamily="18" charset="0"/>
              <a:cs typeface="Times New Roman" panose="02020603050405020304" pitchFamily="18" charset="0"/>
            </a:endParaRPr>
          </a:p>
          <a:p>
            <a:pPr marL="203200" indent="-203200" algn="l">
              <a:lnSpc>
                <a:spcPct val="127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Bajaj Finserv</a:t>
            </a:r>
            <a:endParaRPr lang="en-US" sz="105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2118" y="1697432"/>
            <a:ext cx="2639690" cy="1479073"/>
          </a:xfrm>
          <a:prstGeom prst="rect">
            <a:avLst/>
          </a:prstGeom>
        </p:spPr>
      </p:pic>
      <p:sp>
        <p:nvSpPr>
          <p:cNvPr id="10" name="Text 6"/>
          <p:cNvSpPr/>
          <p:nvPr/>
        </p:nvSpPr>
        <p:spPr>
          <a:xfrm>
            <a:off x="3451993" y="1840158"/>
            <a:ext cx="2362329" cy="421481"/>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Times New Roman" panose="02020603050405020304" pitchFamily="18" charset="0"/>
                <a:ea typeface="Petrona Bold" pitchFamily="34" charset="-122"/>
                <a:cs typeface="Times New Roman" panose="02020603050405020304" pitchFamily="18" charset="0"/>
              </a:rPr>
              <a:t>Growth Holdings  </a:t>
            </a:r>
            <a:r>
              <a:rPr lang="en-US" sz="1300" b="1" dirty="0">
                <a:solidFill>
                  <a:schemeClr val="accent4">
                    <a:lumMod val="75000"/>
                  </a:schemeClr>
                </a:solidFill>
                <a:latin typeface="Times New Roman" panose="02020603050405020304" pitchFamily="18" charset="0"/>
                <a:ea typeface="Petrona Bold" pitchFamily="34" charset="-122"/>
                <a:cs typeface="Times New Roman" panose="02020603050405020304" pitchFamily="18" charset="0"/>
              </a:rPr>
              <a:t>42.29%</a:t>
            </a:r>
            <a:endParaRPr lang="en-US" sz="13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11" name="Text 7"/>
          <p:cNvSpPr/>
          <p:nvPr/>
        </p:nvSpPr>
        <p:spPr>
          <a:xfrm>
            <a:off x="3451994" y="2096903"/>
            <a:ext cx="2297088" cy="587797"/>
          </a:xfrm>
          <a:prstGeom prst="rect">
            <a:avLst/>
          </a:prstGeom>
          <a:noFill/>
          <a:ln/>
        </p:spPr>
        <p:txBody>
          <a:bodyPr wrap="square" lIns="0" tIns="0" rIns="0" bIns="0" rtlCol="0" anchor="t">
            <a:normAutofit/>
          </a:bodyPr>
          <a:lstStyle/>
          <a:p>
            <a:pPr>
              <a:lnSpc>
                <a:spcPct val="127000"/>
              </a:lnSpc>
            </a:pPr>
            <a:r>
              <a:rPr lang="en-IN" sz="1000" dirty="0"/>
              <a:t>Companies positioned to capitalize on long-term sectoral expansion.</a:t>
            </a:r>
            <a:endParaRPr lang="en-US" sz="1000" dirty="0">
              <a:latin typeface="Times New Roman" panose="02020603050405020304" pitchFamily="18" charset="0"/>
              <a:cs typeface="Times New Roman" panose="02020603050405020304" pitchFamily="18" charset="0"/>
            </a:endParaRPr>
          </a:p>
        </p:txBody>
      </p:sp>
      <p:sp>
        <p:nvSpPr>
          <p:cNvPr id="12" name="Text 8"/>
          <p:cNvSpPr/>
          <p:nvPr/>
        </p:nvSpPr>
        <p:spPr>
          <a:xfrm>
            <a:off x="3451994" y="2533162"/>
            <a:ext cx="2297088" cy="669206"/>
          </a:xfrm>
          <a:prstGeom prst="rect">
            <a:avLst/>
          </a:prstGeom>
          <a:noFill/>
          <a:ln/>
        </p:spPr>
        <p:txBody>
          <a:bodyPr wrap="square" lIns="0" tIns="0" rIns="0" bIns="0" rtlCol="0" anchor="t">
            <a:normAutofit/>
          </a:bodyPr>
          <a:lstStyle/>
          <a:p>
            <a:pPr marL="171450" indent="-171450" algn="l">
              <a:lnSpc>
                <a:spcPct val="127000"/>
              </a:lnSpc>
              <a:buSzPct val="100000"/>
              <a:buFont typeface="Wingdings" panose="05000000000000000000" pitchFamily="2" charset="2"/>
              <a:buChar char="Ø"/>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InterGlobe Aviation</a:t>
            </a:r>
            <a:endParaRPr lang="en-US" sz="1000" dirty="0">
              <a:latin typeface="Times New Roman" panose="02020603050405020304" pitchFamily="18" charset="0"/>
              <a:cs typeface="Times New Roman" panose="02020603050405020304" pitchFamily="18" charset="0"/>
            </a:endParaRPr>
          </a:p>
          <a:p>
            <a:pPr marL="171450" indent="-171450" algn="l">
              <a:lnSpc>
                <a:spcPct val="127000"/>
              </a:lnSpc>
              <a:buSzPct val="100000"/>
              <a:buFont typeface="Wingdings" panose="05000000000000000000" pitchFamily="2" charset="2"/>
              <a:buChar char="Ø"/>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Larsen &amp; Toubro</a:t>
            </a:r>
            <a:endParaRPr lang="en-US" sz="1000" dirty="0">
              <a:latin typeface="Times New Roman" panose="02020603050405020304" pitchFamily="18" charset="0"/>
              <a:cs typeface="Times New Roman" panose="02020603050405020304" pitchFamily="18" charset="0"/>
            </a:endParaRPr>
          </a:p>
          <a:p>
            <a:pPr marL="171450" indent="-171450" algn="l">
              <a:lnSpc>
                <a:spcPct val="127000"/>
              </a:lnSpc>
              <a:buSzPct val="100000"/>
              <a:buFont typeface="Wingdings" panose="05000000000000000000" pitchFamily="2" charset="2"/>
              <a:buChar char="Ø"/>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Siemens</a:t>
            </a:r>
            <a:endParaRPr lang="en-US" sz="1000" dirty="0">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08191" y="1697433"/>
            <a:ext cx="2639690" cy="1479072"/>
          </a:xfrm>
          <a:prstGeom prst="rect">
            <a:avLst/>
          </a:prstGeom>
        </p:spPr>
      </p:pic>
      <p:sp>
        <p:nvSpPr>
          <p:cNvPr id="14" name="Text 9"/>
          <p:cNvSpPr/>
          <p:nvPr/>
        </p:nvSpPr>
        <p:spPr>
          <a:xfrm>
            <a:off x="6208068" y="1840158"/>
            <a:ext cx="2297088" cy="210741"/>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Times New Roman" panose="02020603050405020304" pitchFamily="18" charset="0"/>
                <a:ea typeface="Petrona Bold" pitchFamily="34" charset="-122"/>
                <a:cs typeface="Times New Roman" panose="02020603050405020304" pitchFamily="18" charset="0"/>
              </a:rPr>
              <a:t>Tactical Holdings  </a:t>
            </a:r>
            <a:r>
              <a:rPr lang="en-US" sz="1300" b="1" dirty="0">
                <a:solidFill>
                  <a:srgbClr val="0070C0"/>
                </a:solidFill>
                <a:latin typeface="Times New Roman" panose="02020603050405020304" pitchFamily="18" charset="0"/>
                <a:ea typeface="Petrona Bold" pitchFamily="34" charset="-122"/>
                <a:cs typeface="Times New Roman" panose="02020603050405020304" pitchFamily="18" charset="0"/>
              </a:rPr>
              <a:t>4.91%</a:t>
            </a:r>
            <a:endParaRPr lang="en-US" sz="1300" dirty="0">
              <a:solidFill>
                <a:srgbClr val="0070C0"/>
              </a:solidFill>
              <a:latin typeface="Times New Roman" panose="02020603050405020304" pitchFamily="18" charset="0"/>
              <a:cs typeface="Times New Roman" panose="02020603050405020304" pitchFamily="18" charset="0"/>
            </a:endParaRPr>
          </a:p>
        </p:txBody>
      </p:sp>
      <p:sp>
        <p:nvSpPr>
          <p:cNvPr id="15" name="Text 10"/>
          <p:cNvSpPr/>
          <p:nvPr/>
        </p:nvSpPr>
        <p:spPr>
          <a:xfrm>
            <a:off x="6208067" y="2120700"/>
            <a:ext cx="2439813" cy="391864"/>
          </a:xfrm>
          <a:prstGeom prst="rect">
            <a:avLst/>
          </a:prstGeom>
          <a:noFill/>
          <a:ln/>
        </p:spPr>
        <p:txBody>
          <a:bodyPr wrap="square" lIns="0" tIns="0" rIns="0" bIns="0" rtlCol="0" anchor="t">
            <a:normAutofit/>
          </a:bodyPr>
          <a:lstStyle/>
          <a:p>
            <a:pPr>
              <a:lnSpc>
                <a:spcPct val="127000"/>
              </a:lnSpc>
            </a:pPr>
            <a:r>
              <a:rPr lang="en-IN" sz="1000" dirty="0"/>
              <a:t>Selective investments enhancing diversification and future upside.</a:t>
            </a:r>
            <a:endParaRPr lang="en-US" sz="1000" dirty="0">
              <a:latin typeface="Times New Roman" panose="02020603050405020304" pitchFamily="18" charset="0"/>
              <a:cs typeface="Times New Roman" panose="02020603050405020304" pitchFamily="18" charset="0"/>
            </a:endParaRPr>
          </a:p>
        </p:txBody>
      </p:sp>
      <p:sp>
        <p:nvSpPr>
          <p:cNvPr id="16" name="Text 11"/>
          <p:cNvSpPr/>
          <p:nvPr/>
        </p:nvSpPr>
        <p:spPr>
          <a:xfrm>
            <a:off x="6208068" y="2562552"/>
            <a:ext cx="2297088" cy="432569"/>
          </a:xfrm>
          <a:prstGeom prst="rect">
            <a:avLst/>
          </a:prstGeom>
          <a:noFill/>
          <a:ln/>
        </p:spPr>
        <p:txBody>
          <a:bodyPr wrap="square" lIns="0" tIns="0" rIns="0" bIns="0" rtlCol="0" anchor="t">
            <a:normAutofit/>
          </a:bodyPr>
          <a:lstStyle/>
          <a:p>
            <a:pPr marL="203200" indent="-203200" algn="l">
              <a:lnSpc>
                <a:spcPct val="127000"/>
              </a:lnSpc>
              <a:buSzPct val="100000"/>
              <a:buFont typeface="Wingdings" panose="05000000000000000000" pitchFamily="2" charset="2"/>
              <a:buChar char="Ø"/>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Ashok Leyland</a:t>
            </a:r>
            <a:endParaRPr lang="en-US" sz="1000" dirty="0">
              <a:latin typeface="Times New Roman" panose="02020603050405020304" pitchFamily="18" charset="0"/>
              <a:cs typeface="Times New Roman" panose="02020603050405020304" pitchFamily="18" charset="0"/>
            </a:endParaRPr>
          </a:p>
          <a:p>
            <a:pPr marL="203200" indent="-203200" algn="l">
              <a:lnSpc>
                <a:spcPct val="127000"/>
              </a:lnSpc>
              <a:buSzPct val="100000"/>
              <a:buFont typeface="Wingdings" panose="05000000000000000000" pitchFamily="2" charset="2"/>
              <a:buChar char="Ø"/>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Eternal</a:t>
            </a:r>
            <a:endParaRPr lang="en-US" sz="1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FE670C1-C44A-E0FD-4F18-50B3EF93019F}"/>
              </a:ext>
            </a:extLst>
          </p:cNvPr>
          <p:cNvSpPr txBox="1"/>
          <p:nvPr/>
        </p:nvSpPr>
        <p:spPr>
          <a:xfrm>
            <a:off x="397009" y="3340391"/>
            <a:ext cx="6734556" cy="1654684"/>
          </a:xfrm>
          <a:prstGeom prst="rect">
            <a:avLst/>
          </a:prstGeom>
          <a:noFill/>
        </p:spPr>
        <p:txBody>
          <a:bodyPr wrap="square">
            <a:spAutoFit/>
          </a:bodyPr>
          <a:lstStyle/>
          <a:p>
            <a:pPr algn="just">
              <a:lnSpc>
                <a:spcPct val="150000"/>
              </a:lnSpc>
              <a:buNone/>
            </a:pPr>
            <a:r>
              <a:rPr lang="en-IN" sz="1400" b="1" dirty="0">
                <a:latin typeface="Times New Roman" panose="02020603050405020304" pitchFamily="18" charset="0"/>
                <a:cs typeface="Times New Roman" panose="02020603050405020304" pitchFamily="18" charset="0"/>
              </a:rPr>
              <a:t>Portfolio Objectives</a:t>
            </a:r>
          </a:p>
          <a:p>
            <a:pPr marL="342900" lvl="0" indent="-342900" algn="just">
              <a:lnSpc>
                <a:spcPct val="150000"/>
              </a:lnSpc>
              <a:buFont typeface="Wingdings" panose="05000000000000000000" pitchFamily="2" charset="2"/>
              <a:buChar char="Ø"/>
            </a:pPr>
            <a:r>
              <a:rPr lang="en-IN" sz="1050" dirty="0">
                <a:solidFill>
                  <a:schemeClr val="accent3">
                    <a:lumMod val="50000"/>
                  </a:schemeClr>
                </a:solidFill>
                <a:latin typeface="Times New Roman" panose="02020603050405020304" pitchFamily="18" charset="0"/>
                <a:cs typeface="Times New Roman" panose="02020603050405020304" pitchFamily="18" charset="0"/>
              </a:rPr>
              <a:t>Maximize portfolio returns</a:t>
            </a:r>
          </a:p>
          <a:p>
            <a:pPr marL="342900" lvl="0" indent="-342900" algn="just">
              <a:lnSpc>
                <a:spcPct val="150000"/>
              </a:lnSpc>
              <a:buFont typeface="Wingdings" panose="05000000000000000000" pitchFamily="2" charset="2"/>
              <a:buChar char="Ø"/>
            </a:pPr>
            <a:r>
              <a:rPr lang="en-IN" sz="1050" dirty="0">
                <a:solidFill>
                  <a:schemeClr val="accent3">
                    <a:lumMod val="50000"/>
                  </a:schemeClr>
                </a:solidFill>
                <a:latin typeface="Times New Roman" panose="02020603050405020304" pitchFamily="18" charset="0"/>
                <a:cs typeface="Times New Roman" panose="02020603050405020304" pitchFamily="18" charset="0"/>
              </a:rPr>
              <a:t>Maintain sector diversification</a:t>
            </a:r>
          </a:p>
          <a:p>
            <a:pPr marL="342900" lvl="0" indent="-342900" algn="just">
              <a:lnSpc>
                <a:spcPct val="150000"/>
              </a:lnSpc>
              <a:buFont typeface="Wingdings" panose="05000000000000000000" pitchFamily="2" charset="2"/>
              <a:buChar char="Ø"/>
            </a:pPr>
            <a:r>
              <a:rPr lang="en-IN" sz="1050" dirty="0">
                <a:solidFill>
                  <a:schemeClr val="accent3">
                    <a:lumMod val="50000"/>
                  </a:schemeClr>
                </a:solidFill>
                <a:latin typeface="Times New Roman" panose="02020603050405020304" pitchFamily="18" charset="0"/>
                <a:cs typeface="Times New Roman" panose="02020603050405020304" pitchFamily="18" charset="0"/>
              </a:rPr>
              <a:t>Invest in fundamentally strong companies</a:t>
            </a:r>
          </a:p>
          <a:p>
            <a:pPr marL="342900" lvl="0" indent="-342900" algn="just">
              <a:lnSpc>
                <a:spcPct val="150000"/>
              </a:lnSpc>
              <a:buFont typeface="Wingdings" panose="05000000000000000000" pitchFamily="2" charset="2"/>
              <a:buChar char="Ø"/>
            </a:pPr>
            <a:r>
              <a:rPr lang="en-IN" sz="1050" dirty="0">
                <a:solidFill>
                  <a:schemeClr val="accent3">
                    <a:lumMod val="50000"/>
                  </a:schemeClr>
                </a:solidFill>
                <a:latin typeface="Times New Roman" panose="02020603050405020304" pitchFamily="18" charset="0"/>
                <a:cs typeface="Times New Roman" panose="02020603050405020304" pitchFamily="18" charset="0"/>
              </a:rPr>
              <a:t>Balance growth and stability</a:t>
            </a:r>
          </a:p>
          <a:p>
            <a:pPr marL="342900" lvl="0" indent="-342900" algn="just">
              <a:lnSpc>
                <a:spcPct val="150000"/>
              </a:lnSpc>
              <a:buFont typeface="Wingdings" panose="05000000000000000000" pitchFamily="2" charset="2"/>
              <a:buChar char="Ø"/>
            </a:pPr>
            <a:r>
              <a:rPr lang="en-IN" sz="1050" dirty="0">
                <a:solidFill>
                  <a:schemeClr val="accent3">
                    <a:lumMod val="50000"/>
                  </a:schemeClr>
                </a:solidFill>
                <a:latin typeface="Times New Roman" panose="02020603050405020304" pitchFamily="18" charset="0"/>
                <a:cs typeface="Times New Roman" panose="02020603050405020304" pitchFamily="18" charset="0"/>
              </a:rPr>
              <a:t>Follow disciplined capital allocation</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4" grpId="0" animBg="1"/>
      <p:bldP spid="15" grpId="0" animBg="1"/>
      <p:bldP spid="16" grpId="0" animBg="1"/>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0881" y="210956"/>
            <a:ext cx="8151763" cy="334268"/>
          </a:xfrm>
          <a:prstGeom prst="rect">
            <a:avLst/>
          </a:prstGeom>
          <a:noFill/>
          <a:ln/>
        </p:spPr>
        <p:txBody>
          <a:bodyPr wrap="none" lIns="0" tIns="0" rIns="0" bIns="0" rtlCol="0" anchor="t"/>
          <a:lstStyle/>
          <a:p>
            <a:pPr marL="0" indent="0" algn="ctr">
              <a:lnSpc>
                <a:spcPct val="104000"/>
              </a:lnSpc>
              <a:buNone/>
            </a:pPr>
            <a:r>
              <a:rPr lang="en-US" sz="2100" b="1" dirty="0">
                <a:solidFill>
                  <a:srgbClr val="000000"/>
                </a:solidFill>
                <a:latin typeface="Times New Roman" panose="02020603050405020304" pitchFamily="18" charset="0"/>
                <a:ea typeface="Petrona Bold" pitchFamily="34" charset="-122"/>
                <a:cs typeface="Times New Roman" panose="02020603050405020304" pitchFamily="18" charset="0"/>
              </a:rPr>
              <a:t>Core Holdings: Investment Rationale</a:t>
            </a:r>
            <a:endParaRPr lang="en-US" sz="2100" dirty="0">
              <a:latin typeface="Times New Roman" panose="02020603050405020304" pitchFamily="18" charset="0"/>
              <a:cs typeface="Times New Roman" panose="02020603050405020304" pitchFamily="18" charset="0"/>
            </a:endParaRPr>
          </a:p>
        </p:txBody>
      </p:sp>
      <p:sp>
        <p:nvSpPr>
          <p:cNvPr id="3" name="Text 1"/>
          <p:cNvSpPr/>
          <p:nvPr/>
        </p:nvSpPr>
        <p:spPr>
          <a:xfrm>
            <a:off x="500881" y="648724"/>
            <a:ext cx="8151763" cy="167134"/>
          </a:xfrm>
          <a:prstGeom prst="rect">
            <a:avLst/>
          </a:prstGeom>
          <a:noFill/>
          <a:ln/>
        </p:spPr>
        <p:txBody>
          <a:bodyPr wrap="none" lIns="0" tIns="0" rIns="0" bIns="0" rtlCol="0" anchor="t"/>
          <a:lstStyle/>
          <a:p>
            <a:pPr marL="0" indent="0" algn="ctr">
              <a:lnSpc>
                <a:spcPct val="104000"/>
              </a:lnSpc>
              <a:buNone/>
            </a:pPr>
            <a:r>
              <a:rPr lang="en-US" sz="1050" b="1" dirty="0">
                <a:solidFill>
                  <a:srgbClr val="000000"/>
                </a:solidFill>
                <a:latin typeface="Times New Roman" panose="02020603050405020304" pitchFamily="18" charset="0"/>
                <a:ea typeface="Petrona Bold" pitchFamily="34" charset="-122"/>
                <a:cs typeface="Times New Roman" panose="02020603050405020304" pitchFamily="18" charset="0"/>
              </a:rPr>
              <a:t>High-conviction companies forming the foundation of our portfolio.</a:t>
            </a:r>
            <a:endParaRPr lang="en-US" sz="1050" dirty="0">
              <a:latin typeface="Times New Roman" panose="02020603050405020304" pitchFamily="18" charset="0"/>
              <a:cs typeface="Times New Roman" panose="02020603050405020304" pitchFamily="18" charset="0"/>
            </a:endParaRPr>
          </a:p>
        </p:txBody>
      </p:sp>
      <p:sp>
        <p:nvSpPr>
          <p:cNvPr id="5" name="Text 3"/>
          <p:cNvSpPr/>
          <p:nvPr/>
        </p:nvSpPr>
        <p:spPr>
          <a:xfrm>
            <a:off x="496119" y="1156528"/>
            <a:ext cx="3951610" cy="167134"/>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Divi's Laboratories</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496119" y="1438573"/>
            <a:ext cx="4408810" cy="140047"/>
          </a:xfrm>
          <a:prstGeom prst="rect">
            <a:avLst/>
          </a:prstGeom>
          <a:noFill/>
          <a:ln/>
        </p:spPr>
        <p:txBody>
          <a:bodyPr wrap="none" lIns="0" tIns="0" rIns="0" bIns="0" rtlCol="0" anchor="t"/>
          <a:lstStyle/>
          <a:p>
            <a:pPr marL="171450" indent="-171450" algn="l">
              <a:lnSpc>
                <a:spcPct val="115000"/>
              </a:lnSpc>
              <a:buFont typeface="Wingdings" panose="05000000000000000000" pitchFamily="2" charset="2"/>
              <a:buChar char="q"/>
            </a:pPr>
            <a:r>
              <a:rPr lang="en-US" sz="1050" dirty="0">
                <a:solidFill>
                  <a:srgbClr val="00B050"/>
                </a:solidFill>
                <a:latin typeface="Times New Roman" panose="02020603050405020304" pitchFamily="18" charset="0"/>
                <a:ea typeface="Inter" pitchFamily="34" charset="-122"/>
                <a:cs typeface="Times New Roman" panose="02020603050405020304" pitchFamily="18" charset="0"/>
              </a:rPr>
              <a:t>Healthcare</a:t>
            </a:r>
            <a:endParaRPr lang="en-US" sz="1050" dirty="0">
              <a:solidFill>
                <a:srgbClr val="00B050"/>
              </a:solidFill>
              <a:latin typeface="Times New Roman" panose="02020603050405020304" pitchFamily="18" charset="0"/>
              <a:cs typeface="Times New Roman" panose="02020603050405020304" pitchFamily="18" charset="0"/>
            </a:endParaRPr>
          </a:p>
        </p:txBody>
      </p:sp>
      <p:sp>
        <p:nvSpPr>
          <p:cNvPr id="7" name="Text 5"/>
          <p:cNvSpPr/>
          <p:nvPr/>
        </p:nvSpPr>
        <p:spPr>
          <a:xfrm>
            <a:off x="496119" y="1699222"/>
            <a:ext cx="3951610" cy="167134"/>
          </a:xfrm>
          <a:prstGeom prst="rect">
            <a:avLst/>
          </a:prstGeom>
          <a:noFill/>
          <a:ln/>
        </p:spPr>
        <p:txBody>
          <a:bodyPr wrap="none" lIns="0" tIns="0" rIns="0" bIns="0" rtlCol="0" anchor="t"/>
          <a:lstStyle/>
          <a:p>
            <a:pPr>
              <a:lnSpc>
                <a:spcPct val="104000"/>
              </a:lnSpc>
            </a:pPr>
            <a:r>
              <a:rPr lang="en-IN" sz="1400" b="1" dirty="0">
                <a:latin typeface="Times New Roman" panose="02020603050405020304" pitchFamily="18" charset="0"/>
                <a:cs typeface="Times New Roman" panose="02020603050405020304" pitchFamily="18" charset="0"/>
              </a:rPr>
              <a:t>Investment Thesis</a:t>
            </a:r>
            <a:endParaRPr lang="en-US" sz="1400" b="1" dirty="0">
              <a:latin typeface="Times New Roman" panose="02020603050405020304" pitchFamily="18" charset="0"/>
              <a:cs typeface="Times New Roman" panose="02020603050405020304" pitchFamily="18" charset="0"/>
            </a:endParaRPr>
          </a:p>
        </p:txBody>
      </p:sp>
      <p:sp>
        <p:nvSpPr>
          <p:cNvPr id="8" name="Text 6"/>
          <p:cNvSpPr/>
          <p:nvPr/>
        </p:nvSpPr>
        <p:spPr>
          <a:xfrm>
            <a:off x="496119" y="1913797"/>
            <a:ext cx="3951610" cy="636984"/>
          </a:xfrm>
          <a:prstGeom prst="rect">
            <a:avLst/>
          </a:prstGeom>
          <a:noFill/>
          <a:ln/>
        </p:spPr>
        <p:txBody>
          <a:bodyPr wrap="square" lIns="0" tIns="0" rIns="0" bIns="0" rtlCol="0" anchor="t">
            <a:noAutofit/>
          </a:bodyPr>
          <a:lstStyle/>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Leading Indian pharmaceutical company with strong global presence.</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Robust fundamentals and consistent profitability.</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Major exporter of Active Pharmaceutical Ingredients (APIs).</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Defensive sector for long-term resilience.</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496119" y="2737009"/>
            <a:ext cx="3951610" cy="167134"/>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Portfolio Role</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496119" y="2985090"/>
            <a:ext cx="3951610" cy="471339"/>
          </a:xfrm>
          <a:prstGeom prst="rect">
            <a:avLst/>
          </a:prstGeom>
          <a:noFill/>
          <a:ln/>
        </p:spPr>
        <p:txBody>
          <a:bodyPr wrap="square" lIns="0" tIns="0" rIns="0" bIns="0" rtlCol="0" anchor="t">
            <a:noAutofit/>
          </a:bodyPr>
          <a:lstStyle/>
          <a:p>
            <a:pPr marL="171450" indent="-171450" algn="l">
              <a:lnSpc>
                <a:spcPct val="115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Provides portfolio stability.</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Offers defensive growth.</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ü"/>
            </a:pPr>
            <a:r>
              <a:rPr lang="en-US" sz="1050" dirty="0">
                <a:solidFill>
                  <a:srgbClr val="E67E22"/>
                </a:solidFill>
                <a:latin typeface="Times New Roman" panose="02020603050405020304" pitchFamily="18" charset="0"/>
                <a:ea typeface="Inter" pitchFamily="34" charset="-122"/>
                <a:cs typeface="Times New Roman" panose="02020603050405020304" pitchFamily="18" charset="0"/>
              </a:rPr>
              <a:t>Largest portfolio allocation (32.73%)</a:t>
            </a: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4701034" y="1156528"/>
            <a:ext cx="3951610" cy="167134"/>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Bajaj Finserv</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4701034" y="1476369"/>
            <a:ext cx="4408810" cy="140047"/>
          </a:xfrm>
          <a:prstGeom prst="rect">
            <a:avLst/>
          </a:prstGeom>
          <a:noFill/>
          <a:ln/>
        </p:spPr>
        <p:txBody>
          <a:bodyPr wrap="none" lIns="0" tIns="0" rIns="0" bIns="0" rtlCol="0" anchor="t"/>
          <a:lstStyle/>
          <a:p>
            <a:pPr marL="171450" indent="-171450" algn="l">
              <a:lnSpc>
                <a:spcPct val="115000"/>
              </a:lnSpc>
              <a:buFont typeface="Wingdings" panose="05000000000000000000" pitchFamily="2" charset="2"/>
              <a:buChar char="q"/>
            </a:pPr>
            <a:r>
              <a:rPr lang="en-US" sz="1000" dirty="0">
                <a:solidFill>
                  <a:srgbClr val="0070C0"/>
                </a:solidFill>
                <a:latin typeface="Times New Roman" panose="02020603050405020304" pitchFamily="18" charset="0"/>
                <a:ea typeface="Inter" pitchFamily="34" charset="-122"/>
                <a:cs typeface="Times New Roman" panose="02020603050405020304" pitchFamily="18" charset="0"/>
              </a:rPr>
              <a:t>Financial </a:t>
            </a:r>
            <a:r>
              <a:rPr lang="en-US" sz="1050" dirty="0">
                <a:solidFill>
                  <a:srgbClr val="0070C0"/>
                </a:solidFill>
                <a:latin typeface="Times New Roman" panose="02020603050405020304" pitchFamily="18" charset="0"/>
                <a:ea typeface="Inter" pitchFamily="34" charset="-122"/>
                <a:cs typeface="Times New Roman" panose="02020603050405020304" pitchFamily="18" charset="0"/>
              </a:rPr>
              <a:t>Services</a:t>
            </a:r>
            <a:endParaRPr lang="en-US" sz="1050" dirty="0">
              <a:solidFill>
                <a:srgbClr val="0070C0"/>
              </a:solidFill>
              <a:latin typeface="Times New Roman" panose="02020603050405020304" pitchFamily="18" charset="0"/>
              <a:cs typeface="Times New Roman" panose="02020603050405020304" pitchFamily="18" charset="0"/>
            </a:endParaRPr>
          </a:p>
        </p:txBody>
      </p:sp>
      <p:sp>
        <p:nvSpPr>
          <p:cNvPr id="13" name="Text 11"/>
          <p:cNvSpPr/>
          <p:nvPr/>
        </p:nvSpPr>
        <p:spPr>
          <a:xfrm>
            <a:off x="4701034" y="1714917"/>
            <a:ext cx="3951610" cy="167134"/>
          </a:xfrm>
          <a:prstGeom prst="rect">
            <a:avLst/>
          </a:prstGeom>
          <a:noFill/>
          <a:ln/>
        </p:spPr>
        <p:txBody>
          <a:bodyPr wrap="none" lIns="0" tIns="0" rIns="0" bIns="0" rtlCol="0" anchor="t"/>
          <a:lstStyle/>
          <a:p>
            <a:pPr>
              <a:lnSpc>
                <a:spcPct val="104000"/>
              </a:lnSpc>
            </a:pPr>
            <a:r>
              <a:rPr lang="en-IN" sz="1400" b="1" dirty="0">
                <a:latin typeface="Times New Roman" panose="02020603050405020304" pitchFamily="18" charset="0"/>
                <a:cs typeface="Times New Roman" panose="02020603050405020304" pitchFamily="18" charset="0"/>
              </a:rPr>
              <a:t>Investment Thesis</a:t>
            </a:r>
            <a:endParaRPr lang="en-US" sz="1400" b="1" dirty="0">
              <a:latin typeface="Times New Roman" panose="02020603050405020304" pitchFamily="18" charset="0"/>
              <a:cs typeface="Times New Roman" panose="02020603050405020304" pitchFamily="18" charset="0"/>
            </a:endParaRPr>
          </a:p>
        </p:txBody>
      </p:sp>
      <p:sp>
        <p:nvSpPr>
          <p:cNvPr id="14" name="Text 12"/>
          <p:cNvSpPr/>
          <p:nvPr/>
        </p:nvSpPr>
        <p:spPr>
          <a:xfrm>
            <a:off x="4701034" y="1939007"/>
            <a:ext cx="3951610" cy="636984"/>
          </a:xfrm>
          <a:prstGeom prst="rect">
            <a:avLst/>
          </a:prstGeom>
          <a:noFill/>
          <a:ln/>
        </p:spPr>
        <p:txBody>
          <a:bodyPr wrap="square" lIns="0" tIns="0" rIns="0" bIns="0" rtlCol="0" anchor="t">
            <a:noAutofit/>
          </a:bodyPr>
          <a:lstStyle/>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Diversified financial services business.</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Strong presence in lending, insurance, and wealth management.</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Established brand with consistent market expansion.</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Well-positioned to benefit from India's financial sector growth.</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4696271" y="2793051"/>
            <a:ext cx="3951610" cy="167134"/>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Portfolio Role</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4701034" y="3057318"/>
            <a:ext cx="3951610" cy="471339"/>
          </a:xfrm>
          <a:prstGeom prst="rect">
            <a:avLst/>
          </a:prstGeom>
          <a:noFill/>
          <a:ln/>
        </p:spPr>
        <p:txBody>
          <a:bodyPr wrap="square" lIns="0" tIns="0" rIns="0" bIns="0" rtlCol="0" anchor="t">
            <a:normAutofit fontScale="92500" lnSpcReduction="10000"/>
          </a:bodyPr>
          <a:lstStyle/>
          <a:p>
            <a:pPr marL="171450" indent="-171450" algn="l">
              <a:lnSpc>
                <a:spcPct val="115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Enhances financial sector exposure.</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Aims for long-term </a:t>
            </a: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capital</a:t>
            </a: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 appreciation.</a:t>
            </a:r>
            <a:endParaRPr lang="en-US" sz="1050" dirty="0">
              <a:latin typeface="Times New Roman" panose="02020603050405020304" pitchFamily="18" charset="0"/>
              <a:cs typeface="Times New Roman" panose="02020603050405020304" pitchFamily="18" charset="0"/>
            </a:endParaRPr>
          </a:p>
          <a:p>
            <a:pPr marL="171450" indent="-171450" algn="l">
              <a:lnSpc>
                <a:spcPct val="115000"/>
              </a:lnSpc>
              <a:buSzPct val="100000"/>
              <a:buFont typeface="Wingdings" panose="05000000000000000000" pitchFamily="2" charset="2"/>
              <a:buChar char="ü"/>
            </a:pPr>
            <a:r>
              <a:rPr lang="en-US" sz="1050" dirty="0">
                <a:solidFill>
                  <a:srgbClr val="E67E22"/>
                </a:solidFill>
                <a:latin typeface="Times New Roman" panose="02020603050405020304" pitchFamily="18" charset="0"/>
                <a:ea typeface="Inter" pitchFamily="34" charset="-122"/>
                <a:cs typeface="Times New Roman" panose="02020603050405020304" pitchFamily="18" charset="0"/>
              </a:rPr>
              <a:t>Second-largest portfolio allocation (20.06%)</a:t>
            </a: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1044759" y="3888519"/>
            <a:ext cx="8151763" cy="731193"/>
          </a:xfrm>
          <a:prstGeom prst="roundRect">
            <a:avLst>
              <a:gd name="adj" fmla="val 5853"/>
            </a:avLst>
          </a:prstGeom>
          <a:noFill/>
          <a:ln w="4763">
            <a:solidFill>
              <a:srgbClr val="000000">
                <a:alpha val="8000"/>
              </a:srgbClr>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8" name="Shape 16"/>
          <p:cNvSpPr/>
          <p:nvPr/>
        </p:nvSpPr>
        <p:spPr>
          <a:xfrm>
            <a:off x="496119" y="3624916"/>
            <a:ext cx="8151763" cy="6368"/>
          </a:xfrm>
          <a:prstGeom prst="rect">
            <a:avLst/>
          </a:prstGeom>
          <a:solidFill>
            <a:srgbClr val="000000">
              <a:alpha val="8000"/>
            </a:srgbClr>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9" name="Shape 17"/>
          <p:cNvSpPr/>
          <p:nvPr/>
        </p:nvSpPr>
        <p:spPr>
          <a:xfrm>
            <a:off x="496119" y="3867060"/>
            <a:ext cx="8151763" cy="6368"/>
          </a:xfrm>
          <a:prstGeom prst="rect">
            <a:avLst/>
          </a:prstGeom>
          <a:solidFill>
            <a:srgbClr val="000000">
              <a:alpha val="8000"/>
            </a:srgbClr>
          </a:solidFill>
          <a:ln/>
        </p:spPr>
        <p:txBody>
          <a:bodyPr/>
          <a:lstStyle/>
          <a:p>
            <a:endParaRPr lang="en-IN">
              <a:latin typeface="Times New Roman" panose="02020603050405020304" pitchFamily="18" charset="0"/>
              <a:cs typeface="Times New Roman" panose="02020603050405020304" pitchFamily="18" charset="0"/>
            </a:endParaRPr>
          </a:p>
        </p:txBody>
      </p:sp>
      <p:sp>
        <p:nvSpPr>
          <p:cNvPr id="32" name="Text 30"/>
          <p:cNvSpPr/>
          <p:nvPr/>
        </p:nvSpPr>
        <p:spPr>
          <a:xfrm>
            <a:off x="648891" y="4881728"/>
            <a:ext cx="7998991" cy="280095"/>
          </a:xfrm>
          <a:prstGeom prst="rect">
            <a:avLst/>
          </a:prstGeom>
          <a:noFill/>
          <a:ln/>
        </p:spPr>
        <p:txBody>
          <a:bodyPr wrap="square" lIns="0" tIns="0" rIns="0" bIns="0" rtlCol="0" anchor="t">
            <a:normAutofit/>
          </a:bodyPr>
          <a:lstStyle/>
          <a:p>
            <a:pPr marL="0" indent="0" algn="l">
              <a:lnSpc>
                <a:spcPct val="115000"/>
              </a:lnSpc>
              <a:buNone/>
            </a:pPr>
            <a:endParaRPr lang="en-US" sz="900" dirty="0">
              <a:latin typeface="Times New Roman" panose="02020603050405020304" pitchFamily="18" charset="0"/>
              <a:cs typeface="Times New Roman" panose="02020603050405020304" pitchFamily="18" charset="0"/>
            </a:endParaRPr>
          </a:p>
        </p:txBody>
      </p:sp>
      <p:graphicFrame>
        <p:nvGraphicFramePr>
          <p:cNvPr id="36" name="Table 35">
            <a:extLst>
              <a:ext uri="{FF2B5EF4-FFF2-40B4-BE49-F238E27FC236}">
                <a16:creationId xmlns:a16="http://schemas.microsoft.com/office/drawing/2014/main" id="{B70DDE8C-B795-039B-0974-7D0718DF0E6B}"/>
              </a:ext>
            </a:extLst>
          </p:cNvPr>
          <p:cNvGraphicFramePr>
            <a:graphicFrameLocks noGrp="1"/>
          </p:cNvGraphicFramePr>
          <p:nvPr>
            <p:extLst>
              <p:ext uri="{D42A27DB-BD31-4B8C-83A1-F6EECF244321}">
                <p14:modId xmlns:p14="http://schemas.microsoft.com/office/powerpoint/2010/main" val="2288154659"/>
              </p:ext>
            </p:extLst>
          </p:nvPr>
        </p:nvGraphicFramePr>
        <p:xfrm>
          <a:off x="491354" y="3817830"/>
          <a:ext cx="8156527" cy="1062592"/>
        </p:xfrm>
        <a:graphic>
          <a:graphicData uri="http://schemas.openxmlformats.org/drawingml/2006/table">
            <a:tbl>
              <a:tblPr firstRow="1" bandRow="1">
                <a:tableStyleId>{85BE263C-DBD7-4A20-BB59-AAB30ACAA65A}</a:tableStyleId>
              </a:tblPr>
              <a:tblGrid>
                <a:gridCol w="2396585">
                  <a:extLst>
                    <a:ext uri="{9D8B030D-6E8A-4147-A177-3AD203B41FA5}">
                      <a16:colId xmlns:a16="http://schemas.microsoft.com/office/drawing/2014/main" val="837683174"/>
                    </a:ext>
                  </a:extLst>
                </a:gridCol>
                <a:gridCol w="2120731">
                  <a:extLst>
                    <a:ext uri="{9D8B030D-6E8A-4147-A177-3AD203B41FA5}">
                      <a16:colId xmlns:a16="http://schemas.microsoft.com/office/drawing/2014/main" val="1631658706"/>
                    </a:ext>
                  </a:extLst>
                </a:gridCol>
                <a:gridCol w="1821269">
                  <a:extLst>
                    <a:ext uri="{9D8B030D-6E8A-4147-A177-3AD203B41FA5}">
                      <a16:colId xmlns:a16="http://schemas.microsoft.com/office/drawing/2014/main" val="347696054"/>
                    </a:ext>
                  </a:extLst>
                </a:gridCol>
                <a:gridCol w="1817942">
                  <a:extLst>
                    <a:ext uri="{9D8B030D-6E8A-4147-A177-3AD203B41FA5}">
                      <a16:colId xmlns:a16="http://schemas.microsoft.com/office/drawing/2014/main" val="1931730369"/>
                    </a:ext>
                  </a:extLst>
                </a:gridCol>
              </a:tblGrid>
              <a:tr h="513952">
                <a:tc>
                  <a:txBody>
                    <a:bodyPr/>
                    <a:lstStyle/>
                    <a:p>
                      <a:pPr algn="ctr"/>
                      <a:r>
                        <a:rPr lang="en-IN" sz="1200" dirty="0">
                          <a:solidFill>
                            <a:schemeClr val="tx1"/>
                          </a:solidFill>
                        </a:rPr>
                        <a:t>Company Name</a:t>
                      </a:r>
                      <a:endParaRPr lang="en-IN"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solidFill>
                            <a:schemeClr val="tx1"/>
                          </a:solidFill>
                        </a:rPr>
                        <a:t>Quantity Purchased</a:t>
                      </a:r>
                      <a:endParaRPr lang="en-IN"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solidFill>
                            <a:schemeClr val="tx1"/>
                          </a:solidFill>
                        </a:rPr>
                        <a:t>Purchase Price</a:t>
                      </a:r>
                    </a:p>
                    <a:p>
                      <a:pPr algn="ctr"/>
                      <a:r>
                        <a:rPr lang="en-IN" sz="1200" dirty="0">
                          <a:solidFill>
                            <a:schemeClr val="tx1"/>
                          </a:solidFill>
                        </a:rPr>
                        <a:t>(3rd August, ₹)</a:t>
                      </a:r>
                      <a:endParaRPr lang="en-IN" sz="12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chemeClr val="tx1"/>
                          </a:solidFill>
                        </a:rPr>
                        <a:t>Amount Invested</a:t>
                      </a:r>
                      <a:r>
                        <a:rPr lang="en-IN" sz="1200" dirty="0">
                          <a:solidFill>
                            <a:schemeClr val="tx1"/>
                          </a:solidFill>
                        </a:rPr>
                        <a:t>(₹)</a:t>
                      </a:r>
                      <a:endParaRPr lang="en-IN" sz="12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833111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solidFill>
                            <a:srgbClr val="00B050"/>
                          </a:solidFill>
                        </a:rPr>
                        <a:t>Divi's Laboratories</a:t>
                      </a:r>
                      <a:endParaRPr lang="en-US" sz="12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00B050"/>
                          </a:solidFill>
                        </a:rPr>
                        <a:t>40</a:t>
                      </a:r>
                      <a:endParaRPr lang="en-IN" sz="12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IN" sz="1200" dirty="0">
                          <a:solidFill>
                            <a:srgbClr val="00B050"/>
                          </a:solidFill>
                        </a:rPr>
                        <a:t>8182.5</a:t>
                      </a:r>
                      <a:endParaRPr lang="en-IN" sz="1200" dirty="0">
                        <a:solidFill>
                          <a:srgbClr val="00B05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00B050"/>
                          </a:solidFill>
                        </a:rPr>
                        <a:t>3,27,300.00</a:t>
                      </a:r>
                      <a:endParaRPr lang="en-IN" sz="1200" dirty="0">
                        <a:solidFill>
                          <a:srgbClr val="00B05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0338604"/>
                  </a:ext>
                </a:extLst>
              </a:tr>
              <a:tr h="22587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solidFill>
                            <a:srgbClr val="0070C0"/>
                          </a:solidFill>
                        </a:rPr>
                        <a:t>Bajaj FinServ</a:t>
                      </a:r>
                      <a:endParaRPr lang="en-US" sz="1200" dirty="0">
                        <a:solidFill>
                          <a:srgbClr val="0070C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0070C0"/>
                          </a:solidFill>
                        </a:rPr>
                        <a:t>98</a:t>
                      </a:r>
                      <a:endParaRPr lang="en-IN" sz="1200" dirty="0">
                        <a:solidFill>
                          <a:srgbClr val="0070C0"/>
                        </a:solidFill>
                        <a:latin typeface="Times New Roman" panose="02020603050405020304" pitchFamily="18" charset="0"/>
                        <a:cs typeface="Times New Roman" panose="02020603050405020304" pitchFamily="18" charset="0"/>
                      </a:endParaRPr>
                    </a:p>
                  </a:txBody>
                  <a:tcPr/>
                </a:tc>
                <a:tc>
                  <a:txBody>
                    <a:bodyPr/>
                    <a:lstStyle/>
                    <a:p>
                      <a:pPr algn="ctr"/>
                      <a:r>
                        <a:rPr lang="en-IN" sz="1200" dirty="0">
                          <a:solidFill>
                            <a:srgbClr val="0070C0"/>
                          </a:solidFill>
                        </a:rPr>
                        <a:t>2047.4</a:t>
                      </a:r>
                      <a:endParaRPr lang="en-IN" sz="1200" dirty="0">
                        <a:solidFill>
                          <a:srgbClr val="0070C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0070C0"/>
                          </a:solidFill>
                        </a:rPr>
                        <a:t>2,00,645.70</a:t>
                      </a:r>
                      <a:endParaRPr lang="en-IN" sz="1200" dirty="0">
                        <a:solidFill>
                          <a:srgbClr val="0070C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05148038"/>
                  </a:ext>
                </a:extLst>
              </a:tr>
            </a:tbl>
          </a:graphicData>
        </a:graphic>
      </p:graphicFrame>
      <p:cxnSp>
        <p:nvCxnSpPr>
          <p:cNvPr id="40" name="Straight Connector 39">
            <a:extLst>
              <a:ext uri="{FF2B5EF4-FFF2-40B4-BE49-F238E27FC236}">
                <a16:creationId xmlns:a16="http://schemas.microsoft.com/office/drawing/2014/main" id="{36C093A7-2D93-0C10-CDF0-EA9F4741555A}"/>
              </a:ext>
            </a:extLst>
          </p:cNvPr>
          <p:cNvCxnSpPr>
            <a:cxnSpLocks/>
          </p:cNvCxnSpPr>
          <p:nvPr/>
        </p:nvCxnSpPr>
        <p:spPr>
          <a:xfrm>
            <a:off x="4447729" y="1097280"/>
            <a:ext cx="0" cy="2478339"/>
          </a:xfrm>
          <a:prstGeom prst="line">
            <a:avLst/>
          </a:prstGeom>
          <a:ln>
            <a:solidFill>
              <a:schemeClr val="tx2">
                <a:lumMod val="50000"/>
              </a:schemeClr>
            </a:solidFill>
          </a:ln>
        </p:spPr>
        <p:style>
          <a:lnRef idx="1">
            <a:schemeClr val="accent3"/>
          </a:lnRef>
          <a:fillRef idx="0">
            <a:schemeClr val="accent3"/>
          </a:fillRef>
          <a:effectRef idx="0">
            <a:schemeClr val="accent3"/>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3936" y="161467"/>
            <a:ext cx="8151763" cy="298028"/>
          </a:xfrm>
          <a:prstGeom prst="rect">
            <a:avLst/>
          </a:prstGeom>
          <a:noFill/>
          <a:ln/>
        </p:spPr>
        <p:txBody>
          <a:bodyPr wrap="none" lIns="0" tIns="0" rIns="0" bIns="0" rtlCol="0" anchor="t"/>
          <a:lstStyle/>
          <a:p>
            <a:pPr marL="0" indent="0" algn="ctr">
              <a:lnSpc>
                <a:spcPct val="104000"/>
              </a:lnSpc>
              <a:buNone/>
            </a:pPr>
            <a:r>
              <a:rPr lang="en-US" sz="2100" b="1" dirty="0">
                <a:solidFill>
                  <a:srgbClr val="000000"/>
                </a:solidFill>
                <a:latin typeface="Times New Roman" panose="02020603050405020304" pitchFamily="18" charset="0"/>
                <a:ea typeface="Petrona Bold" pitchFamily="34" charset="-122"/>
                <a:cs typeface="Times New Roman" panose="02020603050405020304" pitchFamily="18" charset="0"/>
              </a:rPr>
              <a:t>Growth Holdings: Investment Rationale</a:t>
            </a:r>
            <a:endParaRPr lang="en-US" sz="2100" dirty="0">
              <a:latin typeface="Times New Roman" panose="02020603050405020304" pitchFamily="18" charset="0"/>
              <a:cs typeface="Times New Roman" panose="02020603050405020304" pitchFamily="18" charset="0"/>
            </a:endParaRPr>
          </a:p>
        </p:txBody>
      </p:sp>
      <p:sp>
        <p:nvSpPr>
          <p:cNvPr id="3" name="Text 1"/>
          <p:cNvSpPr/>
          <p:nvPr/>
        </p:nvSpPr>
        <p:spPr>
          <a:xfrm>
            <a:off x="505644" y="511280"/>
            <a:ext cx="8151763" cy="148977"/>
          </a:xfrm>
          <a:prstGeom prst="rect">
            <a:avLst/>
          </a:prstGeom>
          <a:noFill/>
          <a:ln/>
        </p:spPr>
        <p:txBody>
          <a:bodyPr wrap="none" lIns="0" tIns="0" rIns="0" bIns="0" rtlCol="0" anchor="t"/>
          <a:lstStyle/>
          <a:p>
            <a:pPr marL="0" indent="0" algn="ctr">
              <a:lnSpc>
                <a:spcPct val="104000"/>
              </a:lnSpc>
              <a:buNone/>
            </a:pPr>
            <a:r>
              <a:rPr lang="en-US" sz="900" b="1" dirty="0">
                <a:solidFill>
                  <a:srgbClr val="000000"/>
                </a:solidFill>
                <a:latin typeface="Times New Roman" panose="02020603050405020304" pitchFamily="18" charset="0"/>
                <a:ea typeface="Petrona Bold" pitchFamily="34" charset="-122"/>
                <a:cs typeface="Times New Roman" panose="02020603050405020304" pitchFamily="18" charset="0"/>
              </a:rPr>
              <a:t>Companies positioned to capitalize on long-term sectoral expansion and sustainable capital appreciation.</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496119" y="942856"/>
            <a:ext cx="2569294" cy="148977"/>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Times New Roman" panose="02020603050405020304" pitchFamily="18" charset="0"/>
                <a:ea typeface="Petrona Bold" pitchFamily="34" charset="-122"/>
                <a:cs typeface="Times New Roman" panose="02020603050405020304" pitchFamily="18" charset="0"/>
              </a:rPr>
              <a:t>InterGlobe Aviation Ltd</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496119" y="1149950"/>
            <a:ext cx="3026494" cy="119137"/>
          </a:xfrm>
          <a:prstGeom prst="rect">
            <a:avLst/>
          </a:prstGeom>
          <a:noFill/>
          <a:ln/>
        </p:spPr>
        <p:txBody>
          <a:bodyPr wrap="none" lIns="0" tIns="0" rIns="0" bIns="0" rtlCol="0" anchor="t"/>
          <a:lstStyle/>
          <a:p>
            <a:pPr marL="171450" indent="-171450" algn="l">
              <a:lnSpc>
                <a:spcPct val="109000"/>
              </a:lnSpc>
              <a:buFont typeface="Wingdings" panose="05000000000000000000" pitchFamily="2" charset="2"/>
              <a:buChar char="q"/>
            </a:pPr>
            <a:r>
              <a:rPr lang="en-US" sz="900" b="1" dirty="0">
                <a:solidFill>
                  <a:srgbClr val="0070C0"/>
                </a:solidFill>
                <a:latin typeface="Times New Roman" panose="02020603050405020304" pitchFamily="18" charset="0"/>
                <a:ea typeface="Inter Bold" pitchFamily="34" charset="-122"/>
                <a:cs typeface="Times New Roman" panose="02020603050405020304" pitchFamily="18" charset="0"/>
              </a:rPr>
              <a:t>Aviation</a:t>
            </a:r>
            <a:endParaRPr lang="en-US" sz="700" dirty="0">
              <a:solidFill>
                <a:srgbClr val="0070C0"/>
              </a:solidFill>
              <a:latin typeface="Times New Roman" panose="02020603050405020304" pitchFamily="18" charset="0"/>
              <a:cs typeface="Times New Roman" panose="02020603050405020304" pitchFamily="18" charset="0"/>
            </a:endParaRPr>
          </a:p>
        </p:txBody>
      </p:sp>
      <p:sp>
        <p:nvSpPr>
          <p:cNvPr id="7" name="Text 5"/>
          <p:cNvSpPr/>
          <p:nvPr/>
        </p:nvSpPr>
        <p:spPr>
          <a:xfrm>
            <a:off x="486595" y="1347326"/>
            <a:ext cx="2569294" cy="148977"/>
          </a:xfrm>
          <a:prstGeom prst="rect">
            <a:avLst/>
          </a:prstGeom>
          <a:noFill/>
          <a:ln/>
        </p:spPr>
        <p:txBody>
          <a:bodyPr wrap="none" lIns="0" tIns="0" rIns="0" bIns="0" rtlCol="0" anchor="t"/>
          <a:lstStyle/>
          <a:p>
            <a:pPr marL="0" indent="0" algn="l">
              <a:lnSpc>
                <a:spcPct val="104000"/>
              </a:lnSpc>
              <a:buNone/>
            </a:pPr>
            <a:r>
              <a:rPr lang="en-US" sz="900" b="1" dirty="0">
                <a:solidFill>
                  <a:srgbClr val="000000"/>
                </a:solidFill>
                <a:latin typeface="Times New Roman" panose="02020603050405020304" pitchFamily="18" charset="0"/>
                <a:ea typeface="Petrona Bold" pitchFamily="34" charset="-122"/>
                <a:cs typeface="Times New Roman" panose="02020603050405020304" pitchFamily="18" charset="0"/>
              </a:rPr>
              <a:t>Investment Thesis</a:t>
            </a:r>
            <a:endParaRPr lang="en-US" sz="900" dirty="0">
              <a:latin typeface="Times New Roman" panose="02020603050405020304" pitchFamily="18" charset="0"/>
              <a:cs typeface="Times New Roman" panose="02020603050405020304" pitchFamily="18" charset="0"/>
            </a:endParaRPr>
          </a:p>
        </p:txBody>
      </p:sp>
      <p:sp>
        <p:nvSpPr>
          <p:cNvPr id="8" name="Text 6"/>
          <p:cNvSpPr/>
          <p:nvPr/>
        </p:nvSpPr>
        <p:spPr>
          <a:xfrm>
            <a:off x="486595" y="1550513"/>
            <a:ext cx="2569294" cy="656630"/>
          </a:xfrm>
          <a:prstGeom prst="rect">
            <a:avLst/>
          </a:prstGeom>
          <a:noFill/>
          <a:ln/>
        </p:spPr>
        <p:txBody>
          <a:bodyPr wrap="square" lIns="0" tIns="0" rIns="0" bIns="0" rtlCol="0" anchor="t">
            <a:noAutofit/>
          </a:bodyPr>
          <a:lstStyle/>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India's largest airline by market share.</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Rising domestic and international air travel demand.</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Efficient operations with strong cost management.</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Positioned to benefit from India's expanding aviation industry.</a:t>
            </a:r>
            <a:endParaRPr lang="en-US" sz="900" dirty="0">
              <a:latin typeface="Times New Roman" panose="02020603050405020304" pitchFamily="18" charset="0"/>
              <a:cs typeface="Times New Roman" panose="02020603050405020304" pitchFamily="18" charset="0"/>
            </a:endParaRPr>
          </a:p>
        </p:txBody>
      </p:sp>
      <p:sp>
        <p:nvSpPr>
          <p:cNvPr id="9" name="Text 7"/>
          <p:cNvSpPr/>
          <p:nvPr/>
        </p:nvSpPr>
        <p:spPr>
          <a:xfrm>
            <a:off x="505644" y="2436974"/>
            <a:ext cx="2569294" cy="148977"/>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Times New Roman" panose="02020603050405020304" pitchFamily="18" charset="0"/>
                <a:ea typeface="Petrona Bold" pitchFamily="34" charset="-122"/>
                <a:cs typeface="Times New Roman" panose="02020603050405020304" pitchFamily="18" charset="0"/>
              </a:rPr>
              <a:t>Strategic Role</a:t>
            </a:r>
            <a:endParaRPr lang="en-US" sz="1000" dirty="0">
              <a:latin typeface="Times New Roman" panose="02020603050405020304" pitchFamily="18" charset="0"/>
              <a:cs typeface="Times New Roman" panose="02020603050405020304" pitchFamily="18" charset="0"/>
            </a:endParaRPr>
          </a:p>
        </p:txBody>
      </p:sp>
      <p:sp>
        <p:nvSpPr>
          <p:cNvPr id="10" name="Text 8"/>
          <p:cNvSpPr/>
          <p:nvPr/>
        </p:nvSpPr>
        <p:spPr>
          <a:xfrm>
            <a:off x="486742" y="2610576"/>
            <a:ext cx="2569294" cy="398041"/>
          </a:xfrm>
          <a:prstGeom prst="rect">
            <a:avLst/>
          </a:prstGeom>
          <a:noFill/>
          <a:ln/>
        </p:spPr>
        <p:txBody>
          <a:bodyPr wrap="square" lIns="0" tIns="0" rIns="0" bIns="0" rtlCol="0" anchor="t">
            <a:noAutofit/>
          </a:bodyPr>
          <a:lstStyle/>
          <a:p>
            <a:pPr marL="171450" indent="-171450" algn="l">
              <a:lnSpc>
                <a:spcPct val="109000"/>
              </a:lnSpc>
              <a:buSzPct val="100000"/>
              <a:buFont typeface="Wingdings" panose="05000000000000000000" pitchFamily="2" charset="2"/>
              <a:buChar char="ü"/>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Captures aviation sector growth.</a:t>
            </a:r>
            <a:endParaRPr lang="en-US" sz="10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ü"/>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Exposure to consumer mobility.</a:t>
            </a:r>
            <a:endParaRPr lang="en-US" sz="10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ü"/>
            </a:pPr>
            <a:r>
              <a:rPr lang="en-US" sz="1000" dirty="0">
                <a:solidFill>
                  <a:srgbClr val="E67E22"/>
                </a:solidFill>
                <a:latin typeface="Times New Roman" panose="02020603050405020304" pitchFamily="18" charset="0"/>
                <a:ea typeface="Inter" pitchFamily="34" charset="-122"/>
                <a:cs typeface="Times New Roman" panose="02020603050405020304" pitchFamily="18" charset="0"/>
              </a:rPr>
              <a:t>Portfolio Weight: 16.04%</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3156571" y="921969"/>
            <a:ext cx="2569294" cy="148977"/>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Times New Roman" panose="02020603050405020304" pitchFamily="18" charset="0"/>
                <a:ea typeface="Petrona Bold" pitchFamily="34" charset="-122"/>
                <a:cs typeface="Times New Roman" panose="02020603050405020304" pitchFamily="18" charset="0"/>
              </a:rPr>
              <a:t>Larsen &amp; Toubro Ltd</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3156571" y="1149358"/>
            <a:ext cx="3026494" cy="119137"/>
          </a:xfrm>
          <a:prstGeom prst="rect">
            <a:avLst/>
          </a:prstGeom>
          <a:noFill/>
          <a:ln/>
        </p:spPr>
        <p:txBody>
          <a:bodyPr wrap="none" lIns="0" tIns="0" rIns="0" bIns="0" rtlCol="0" anchor="t"/>
          <a:lstStyle/>
          <a:p>
            <a:pPr marL="171450" indent="-171450" algn="l">
              <a:lnSpc>
                <a:spcPct val="109000"/>
              </a:lnSpc>
              <a:buFont typeface="Wingdings" panose="05000000000000000000" pitchFamily="2" charset="2"/>
              <a:buChar char="q"/>
            </a:pPr>
            <a:r>
              <a:rPr lang="en-US" sz="800" b="1" dirty="0">
                <a:solidFill>
                  <a:srgbClr val="00B050"/>
                </a:solidFill>
                <a:latin typeface="Times New Roman" panose="02020603050405020304" pitchFamily="18" charset="0"/>
                <a:ea typeface="Inter Bold" pitchFamily="34" charset="-122"/>
                <a:cs typeface="Times New Roman" panose="02020603050405020304" pitchFamily="18" charset="0"/>
              </a:rPr>
              <a:t>Construction &amp; Infrastructure</a:t>
            </a:r>
            <a:endParaRPr lang="en-US" sz="800" dirty="0">
              <a:solidFill>
                <a:srgbClr val="00B050"/>
              </a:solidFill>
              <a:latin typeface="Times New Roman" panose="02020603050405020304" pitchFamily="18" charset="0"/>
              <a:cs typeface="Times New Roman" panose="02020603050405020304" pitchFamily="18" charset="0"/>
            </a:endParaRPr>
          </a:p>
        </p:txBody>
      </p:sp>
      <p:sp>
        <p:nvSpPr>
          <p:cNvPr id="13" name="Text 11"/>
          <p:cNvSpPr/>
          <p:nvPr/>
        </p:nvSpPr>
        <p:spPr>
          <a:xfrm>
            <a:off x="3156571" y="1342936"/>
            <a:ext cx="2569294" cy="148977"/>
          </a:xfrm>
          <a:prstGeom prst="rect">
            <a:avLst/>
          </a:prstGeom>
          <a:noFill/>
          <a:ln/>
        </p:spPr>
        <p:txBody>
          <a:bodyPr wrap="none" lIns="0" tIns="0" rIns="0" bIns="0" rtlCol="0" anchor="t"/>
          <a:lstStyle/>
          <a:p>
            <a:pPr marL="0" indent="0" algn="l">
              <a:lnSpc>
                <a:spcPct val="104000"/>
              </a:lnSpc>
              <a:buNone/>
            </a:pPr>
            <a:r>
              <a:rPr lang="en-US" sz="900" b="1" dirty="0">
                <a:solidFill>
                  <a:srgbClr val="000000"/>
                </a:solidFill>
                <a:latin typeface="Times New Roman" panose="02020603050405020304" pitchFamily="18" charset="0"/>
                <a:ea typeface="Petrona Bold" pitchFamily="34" charset="-122"/>
                <a:cs typeface="Times New Roman" panose="02020603050405020304" pitchFamily="18" charset="0"/>
              </a:rPr>
              <a:t>Investment Thesis</a:t>
            </a:r>
            <a:endParaRPr lang="en-US" sz="900" dirty="0">
              <a:latin typeface="Times New Roman" panose="02020603050405020304" pitchFamily="18" charset="0"/>
              <a:cs typeface="Times New Roman" panose="02020603050405020304" pitchFamily="18" charset="0"/>
            </a:endParaRPr>
          </a:p>
        </p:txBody>
      </p:sp>
      <p:sp>
        <p:nvSpPr>
          <p:cNvPr id="14" name="Text 12"/>
          <p:cNvSpPr/>
          <p:nvPr/>
        </p:nvSpPr>
        <p:spPr>
          <a:xfrm>
            <a:off x="3161015" y="1544598"/>
            <a:ext cx="3164291" cy="775767"/>
          </a:xfrm>
          <a:prstGeom prst="rect">
            <a:avLst/>
          </a:prstGeom>
          <a:noFill/>
          <a:ln/>
        </p:spPr>
        <p:txBody>
          <a:bodyPr wrap="square" lIns="0" tIns="0" rIns="0" bIns="0" rtlCol="0" anchor="t">
            <a:noAutofit/>
          </a:bodyPr>
          <a:lstStyle/>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India's leading engineering and infrastructure company.</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Strong order book supported by government capital expenditure.</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Diversified operations across infrastructure, defence, and technology.</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Positioned for long-term infrastructure development.</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3161015" y="2453762"/>
            <a:ext cx="2569294" cy="148977"/>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Times New Roman" panose="02020603050405020304" pitchFamily="18" charset="0"/>
                <a:ea typeface="Petrona Bold" pitchFamily="34" charset="-122"/>
                <a:cs typeface="Times New Roman" panose="02020603050405020304" pitchFamily="18" charset="0"/>
              </a:rPr>
              <a:t>Strategic Role</a:t>
            </a: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3142113" y="2604493"/>
            <a:ext cx="2569294" cy="398041"/>
          </a:xfrm>
          <a:prstGeom prst="rect">
            <a:avLst/>
          </a:prstGeom>
          <a:noFill/>
          <a:ln/>
        </p:spPr>
        <p:txBody>
          <a:bodyPr wrap="square" lIns="0" tIns="0" rIns="0" bIns="0" rtlCol="0" anchor="t">
            <a:noAutofit/>
          </a:bodyPr>
          <a:lstStyle/>
          <a:p>
            <a:pPr marL="171450" indent="-171450" algn="l">
              <a:lnSpc>
                <a:spcPct val="109000"/>
              </a:lnSpc>
              <a:buSzPct val="100000"/>
              <a:buFont typeface="Wingdings" panose="05000000000000000000" pitchFamily="2" charset="2"/>
              <a:buChar char="ü"/>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Infrastructure sector exposure.</a:t>
            </a:r>
            <a:endParaRPr lang="en-US" sz="10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ü"/>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Long-term industrial growth.</a:t>
            </a:r>
            <a:endParaRPr lang="en-US" sz="10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ü"/>
            </a:pPr>
            <a:r>
              <a:rPr lang="en-US" sz="1000" dirty="0">
                <a:solidFill>
                  <a:srgbClr val="E67E22"/>
                </a:solidFill>
                <a:latin typeface="Times New Roman" panose="02020603050405020304" pitchFamily="18" charset="0"/>
                <a:ea typeface="Inter" pitchFamily="34" charset="-122"/>
                <a:cs typeface="Times New Roman" panose="02020603050405020304" pitchFamily="18" charset="0"/>
              </a:rPr>
              <a:t>Portfolio Weight: 13.93%</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6414486" y="939097"/>
            <a:ext cx="2570113" cy="148977"/>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Times New Roman" panose="02020603050405020304" pitchFamily="18" charset="0"/>
                <a:ea typeface="Petrona Bold" pitchFamily="34" charset="-122"/>
                <a:cs typeface="Times New Roman" panose="02020603050405020304" pitchFamily="18" charset="0"/>
              </a:rPr>
              <a:t>Siemens</a:t>
            </a:r>
            <a:endParaRPr lang="en-US" sz="900" dirty="0">
              <a:latin typeface="Times New Roman" panose="02020603050405020304" pitchFamily="18" charset="0"/>
              <a:cs typeface="Times New Roman" panose="02020603050405020304" pitchFamily="18" charset="0"/>
            </a:endParaRPr>
          </a:p>
        </p:txBody>
      </p:sp>
      <p:sp>
        <p:nvSpPr>
          <p:cNvPr id="18" name="Text 16"/>
          <p:cNvSpPr/>
          <p:nvPr/>
        </p:nvSpPr>
        <p:spPr>
          <a:xfrm>
            <a:off x="6414485" y="1152764"/>
            <a:ext cx="3027313" cy="119137"/>
          </a:xfrm>
          <a:prstGeom prst="rect">
            <a:avLst/>
          </a:prstGeom>
          <a:noFill/>
          <a:ln/>
        </p:spPr>
        <p:txBody>
          <a:bodyPr wrap="none" lIns="0" tIns="0" rIns="0" bIns="0" rtlCol="0" anchor="t"/>
          <a:lstStyle/>
          <a:p>
            <a:pPr marL="171450" indent="-171450" algn="l">
              <a:lnSpc>
                <a:spcPct val="109000"/>
              </a:lnSpc>
              <a:buFont typeface="Wingdings" panose="05000000000000000000" pitchFamily="2" charset="2"/>
              <a:buChar char="q"/>
            </a:pPr>
            <a:r>
              <a:rPr lang="en-US" sz="800" b="1" dirty="0">
                <a:solidFill>
                  <a:schemeClr val="accent4">
                    <a:lumMod val="50000"/>
                  </a:schemeClr>
                </a:solidFill>
                <a:latin typeface="Inter Bold" pitchFamily="34" charset="0"/>
                <a:ea typeface="Inter Bold" pitchFamily="34" charset="-122"/>
                <a:cs typeface="Inter Bold" pitchFamily="34" charset="-120"/>
              </a:rPr>
              <a:t>Industrial</a:t>
            </a:r>
            <a:endParaRPr lang="en-US" sz="700" dirty="0">
              <a:solidFill>
                <a:schemeClr val="accent4">
                  <a:lumMod val="50000"/>
                </a:schemeClr>
              </a:solidFill>
            </a:endParaRPr>
          </a:p>
        </p:txBody>
      </p:sp>
      <p:sp>
        <p:nvSpPr>
          <p:cNvPr id="19" name="Text 17"/>
          <p:cNvSpPr/>
          <p:nvPr/>
        </p:nvSpPr>
        <p:spPr>
          <a:xfrm>
            <a:off x="6442071" y="1336591"/>
            <a:ext cx="2570113" cy="148977"/>
          </a:xfrm>
          <a:prstGeom prst="rect">
            <a:avLst/>
          </a:prstGeom>
          <a:noFill/>
          <a:ln/>
        </p:spPr>
        <p:txBody>
          <a:bodyPr wrap="none" lIns="0" tIns="0" rIns="0" bIns="0" rtlCol="0" anchor="t"/>
          <a:lstStyle/>
          <a:p>
            <a:pPr marL="0" indent="0" algn="l">
              <a:lnSpc>
                <a:spcPct val="104000"/>
              </a:lnSpc>
              <a:buNone/>
            </a:pPr>
            <a:r>
              <a:rPr lang="en-US" sz="900" b="1" dirty="0">
                <a:solidFill>
                  <a:srgbClr val="000000"/>
                </a:solidFill>
                <a:latin typeface="Times New Roman" panose="02020603050405020304" pitchFamily="18" charset="0"/>
                <a:ea typeface="Petrona Bold" pitchFamily="34" charset="-122"/>
                <a:cs typeface="Times New Roman" panose="02020603050405020304" pitchFamily="18" charset="0"/>
              </a:rPr>
              <a:t>Investment Thesis</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6421254" y="1534299"/>
            <a:ext cx="2244054" cy="537493"/>
          </a:xfrm>
          <a:prstGeom prst="rect">
            <a:avLst/>
          </a:prstGeom>
          <a:noFill/>
          <a:ln/>
        </p:spPr>
        <p:txBody>
          <a:bodyPr wrap="square" lIns="0" tIns="0" rIns="0" bIns="0" rtlCol="0" anchor="t">
            <a:noAutofit/>
          </a:bodyPr>
          <a:lstStyle/>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Leader in industrial automation and electrification.</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Benefits from manufacturing modernization.</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Technology-driven business model.</a:t>
            </a:r>
            <a:endParaRPr lang="en-US" sz="900" dirty="0">
              <a:latin typeface="Times New Roman" panose="02020603050405020304" pitchFamily="18" charset="0"/>
              <a:cs typeface="Times New Roman" panose="02020603050405020304" pitchFamily="18" charset="0"/>
            </a:endParaRPr>
          </a:p>
          <a:p>
            <a:pPr marL="171450" indent="-171450" algn="l">
              <a:lnSpc>
                <a:spcPct val="109000"/>
              </a:lnSpc>
              <a:buSzPct val="100000"/>
              <a:buFont typeface="Wingdings" panose="05000000000000000000" pitchFamily="2" charset="2"/>
              <a:buChar char="Ø"/>
            </a:pPr>
            <a:r>
              <a:rPr lang="en-US" sz="900" dirty="0">
                <a:solidFill>
                  <a:srgbClr val="272525"/>
                </a:solidFill>
                <a:latin typeface="Times New Roman" panose="02020603050405020304" pitchFamily="18" charset="0"/>
                <a:ea typeface="Inter" pitchFamily="34" charset="-122"/>
                <a:cs typeface="Times New Roman" panose="02020603050405020304" pitchFamily="18" charset="0"/>
              </a:rPr>
              <a:t>Positioned for long-term industrial growth.</a:t>
            </a:r>
            <a:endParaRPr lang="en-US" sz="900" dirty="0">
              <a:latin typeface="Times New Roman" panose="02020603050405020304" pitchFamily="18" charset="0"/>
              <a:cs typeface="Times New Roman" panose="02020603050405020304" pitchFamily="18" charset="0"/>
            </a:endParaRPr>
          </a:p>
        </p:txBody>
      </p:sp>
      <p:sp>
        <p:nvSpPr>
          <p:cNvPr id="21" name="Text 19"/>
          <p:cNvSpPr/>
          <p:nvPr/>
        </p:nvSpPr>
        <p:spPr>
          <a:xfrm>
            <a:off x="6421254" y="2456966"/>
            <a:ext cx="2570113" cy="148977"/>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Times New Roman" panose="02020603050405020304" pitchFamily="18" charset="0"/>
                <a:ea typeface="Petrona Bold" pitchFamily="34" charset="-122"/>
                <a:cs typeface="Times New Roman" panose="02020603050405020304" pitchFamily="18" charset="0"/>
              </a:rPr>
              <a:t>Strategic Role</a:t>
            </a:r>
            <a:endParaRPr lang="en-US" sz="1000" dirty="0">
              <a:latin typeface="Times New Roman" panose="02020603050405020304" pitchFamily="18" charset="0"/>
              <a:cs typeface="Times New Roman" panose="02020603050405020304" pitchFamily="18" charset="0"/>
            </a:endParaRPr>
          </a:p>
        </p:txBody>
      </p:sp>
      <p:sp>
        <p:nvSpPr>
          <p:cNvPr id="22" name="Text 20"/>
          <p:cNvSpPr/>
          <p:nvPr/>
        </p:nvSpPr>
        <p:spPr>
          <a:xfrm>
            <a:off x="6421253" y="2638867"/>
            <a:ext cx="2570113" cy="398041"/>
          </a:xfrm>
          <a:prstGeom prst="rect">
            <a:avLst/>
          </a:prstGeom>
          <a:noFill/>
          <a:ln/>
        </p:spPr>
        <p:txBody>
          <a:bodyPr wrap="square" lIns="0" tIns="0" rIns="0" bIns="0" rtlCol="0" anchor="t">
            <a:noAutofit/>
          </a:bodyPr>
          <a:lstStyle/>
          <a:p>
            <a:pPr marL="228600" indent="-228600" algn="l">
              <a:lnSpc>
                <a:spcPct val="109000"/>
              </a:lnSpc>
              <a:buSzPct val="100000"/>
              <a:buFont typeface="Wingdings" panose="05000000000000000000" pitchFamily="2" charset="2"/>
              <a:buChar char="ü"/>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Industrial automation exposure.</a:t>
            </a:r>
            <a:endParaRPr lang="en-US" sz="1000" dirty="0">
              <a:latin typeface="Times New Roman" panose="02020603050405020304" pitchFamily="18" charset="0"/>
              <a:cs typeface="Times New Roman" panose="02020603050405020304" pitchFamily="18" charset="0"/>
            </a:endParaRPr>
          </a:p>
          <a:p>
            <a:pPr marL="228600" indent="-228600" algn="l">
              <a:lnSpc>
                <a:spcPct val="109000"/>
              </a:lnSpc>
              <a:buSzPct val="100000"/>
              <a:buFont typeface="Wingdings" panose="05000000000000000000" pitchFamily="2" charset="2"/>
              <a:buChar char="ü"/>
            </a:pPr>
            <a:r>
              <a:rPr lang="en-US" sz="1000" dirty="0">
                <a:solidFill>
                  <a:srgbClr val="272525"/>
                </a:solidFill>
                <a:latin typeface="Times New Roman" panose="02020603050405020304" pitchFamily="18" charset="0"/>
                <a:ea typeface="Inter" pitchFamily="34" charset="-122"/>
                <a:cs typeface="Times New Roman" panose="02020603050405020304" pitchFamily="18" charset="0"/>
              </a:rPr>
              <a:t>Supports manufacturing expansion.</a:t>
            </a:r>
            <a:endParaRPr lang="en-US" sz="1000" dirty="0">
              <a:latin typeface="Times New Roman" panose="02020603050405020304" pitchFamily="18" charset="0"/>
              <a:cs typeface="Times New Roman" panose="02020603050405020304" pitchFamily="18" charset="0"/>
            </a:endParaRPr>
          </a:p>
          <a:p>
            <a:pPr marL="228600" indent="-228600" algn="l">
              <a:lnSpc>
                <a:spcPct val="109000"/>
              </a:lnSpc>
              <a:buSzPct val="100000"/>
              <a:buFont typeface="Wingdings" panose="05000000000000000000" pitchFamily="2" charset="2"/>
              <a:buChar char="ü"/>
            </a:pPr>
            <a:r>
              <a:rPr lang="en-US" sz="1000" dirty="0">
                <a:solidFill>
                  <a:srgbClr val="E67E22"/>
                </a:solidFill>
                <a:latin typeface="Times New Roman" panose="02020603050405020304" pitchFamily="18" charset="0"/>
                <a:ea typeface="Inter" pitchFamily="34" charset="-122"/>
                <a:cs typeface="Times New Roman" panose="02020603050405020304" pitchFamily="18" charset="0"/>
              </a:rPr>
              <a:t>Portfolio Weight: 12.32%</a:t>
            </a:r>
            <a:endParaRPr lang="en-US" sz="1000" dirty="0">
              <a:latin typeface="Times New Roman" panose="02020603050405020304" pitchFamily="18" charset="0"/>
              <a:cs typeface="Times New Roman" panose="02020603050405020304" pitchFamily="18" charset="0"/>
            </a:endParaRPr>
          </a:p>
        </p:txBody>
      </p:sp>
      <p:sp>
        <p:nvSpPr>
          <p:cNvPr id="25" name="Shape 23"/>
          <p:cNvSpPr/>
          <p:nvPr/>
        </p:nvSpPr>
        <p:spPr>
          <a:xfrm>
            <a:off x="496119" y="3650754"/>
            <a:ext cx="8151763" cy="5676"/>
          </a:xfrm>
          <a:prstGeom prst="rect">
            <a:avLst/>
          </a:prstGeom>
          <a:solidFill>
            <a:srgbClr val="000000">
              <a:alpha val="8000"/>
            </a:srgbClr>
          </a:solidFill>
          <a:ln/>
        </p:spPr>
        <p:txBody>
          <a:bodyPr/>
          <a:lstStyle/>
          <a:p>
            <a:endParaRPr lang="en-IN"/>
          </a:p>
        </p:txBody>
      </p:sp>
      <p:sp>
        <p:nvSpPr>
          <p:cNvPr id="26" name="Shape 24"/>
          <p:cNvSpPr/>
          <p:nvPr/>
        </p:nvSpPr>
        <p:spPr>
          <a:xfrm>
            <a:off x="496119" y="3853979"/>
            <a:ext cx="8151763" cy="5676"/>
          </a:xfrm>
          <a:prstGeom prst="rect">
            <a:avLst/>
          </a:prstGeom>
          <a:solidFill>
            <a:srgbClr val="000000">
              <a:alpha val="8000"/>
            </a:srgbClr>
          </a:solidFill>
          <a:ln/>
        </p:spPr>
        <p:txBody>
          <a:bodyPr/>
          <a:lstStyle/>
          <a:p>
            <a:endParaRPr lang="en-IN"/>
          </a:p>
        </p:txBody>
      </p:sp>
      <p:cxnSp>
        <p:nvCxnSpPr>
          <p:cNvPr id="45" name="Straight Connector 44">
            <a:extLst>
              <a:ext uri="{FF2B5EF4-FFF2-40B4-BE49-F238E27FC236}">
                <a16:creationId xmlns:a16="http://schemas.microsoft.com/office/drawing/2014/main" id="{0CDB7B53-23DB-924A-3C8C-F3ABC5F81AB7}"/>
              </a:ext>
            </a:extLst>
          </p:cNvPr>
          <p:cNvCxnSpPr>
            <a:cxnSpLocks/>
          </p:cNvCxnSpPr>
          <p:nvPr/>
        </p:nvCxnSpPr>
        <p:spPr>
          <a:xfrm>
            <a:off x="3065413" y="859536"/>
            <a:ext cx="0" cy="2278393"/>
          </a:xfrm>
          <a:prstGeom prst="line">
            <a:avLst/>
          </a:prstGeom>
          <a:ln>
            <a:solidFill>
              <a:schemeClr val="tx2">
                <a:lumMod val="50000"/>
              </a:schemeClr>
            </a:solidFill>
          </a:ln>
        </p:spPr>
        <p:style>
          <a:lnRef idx="1">
            <a:schemeClr val="accent3"/>
          </a:lnRef>
          <a:fillRef idx="0">
            <a:schemeClr val="accent3"/>
          </a:fillRef>
          <a:effectRef idx="0">
            <a:schemeClr val="accent3"/>
          </a:effectRef>
          <a:fontRef idx="minor">
            <a:schemeClr val="tx1"/>
          </a:fontRef>
        </p:style>
      </p:cxnSp>
      <p:cxnSp>
        <p:nvCxnSpPr>
          <p:cNvPr id="48" name="Straight Connector 47">
            <a:extLst>
              <a:ext uri="{FF2B5EF4-FFF2-40B4-BE49-F238E27FC236}">
                <a16:creationId xmlns:a16="http://schemas.microsoft.com/office/drawing/2014/main" id="{6E0D011B-05E6-B297-9031-65BBD4EF9013}"/>
              </a:ext>
            </a:extLst>
          </p:cNvPr>
          <p:cNvCxnSpPr>
            <a:cxnSpLocks/>
          </p:cNvCxnSpPr>
          <p:nvPr/>
        </p:nvCxnSpPr>
        <p:spPr>
          <a:xfrm>
            <a:off x="6344356" y="859536"/>
            <a:ext cx="0" cy="2194560"/>
          </a:xfrm>
          <a:prstGeom prst="line">
            <a:avLst/>
          </a:prstGeom>
          <a:ln>
            <a:solidFill>
              <a:schemeClr val="tx2">
                <a:lumMod val="50000"/>
              </a:schemeClr>
            </a:solidFill>
          </a:ln>
        </p:spPr>
        <p:style>
          <a:lnRef idx="1">
            <a:schemeClr val="accent3"/>
          </a:lnRef>
          <a:fillRef idx="0">
            <a:schemeClr val="accent3"/>
          </a:fillRef>
          <a:effectRef idx="0">
            <a:schemeClr val="accent3"/>
          </a:effectRef>
          <a:fontRef idx="minor">
            <a:schemeClr val="tx1"/>
          </a:fontRef>
        </p:style>
      </p:cxnSp>
      <p:graphicFrame>
        <p:nvGraphicFramePr>
          <p:cNvPr id="50" name="Table 49">
            <a:extLst>
              <a:ext uri="{FF2B5EF4-FFF2-40B4-BE49-F238E27FC236}">
                <a16:creationId xmlns:a16="http://schemas.microsoft.com/office/drawing/2014/main" id="{2418E94E-7A42-3DD1-C9D1-2C36072BEDEC}"/>
              </a:ext>
            </a:extLst>
          </p:cNvPr>
          <p:cNvGraphicFramePr>
            <a:graphicFrameLocks noGrp="1"/>
          </p:cNvGraphicFramePr>
          <p:nvPr>
            <p:extLst>
              <p:ext uri="{D42A27DB-BD31-4B8C-83A1-F6EECF244321}">
                <p14:modId xmlns:p14="http://schemas.microsoft.com/office/powerpoint/2010/main" val="2675770874"/>
              </p:ext>
            </p:extLst>
          </p:nvPr>
        </p:nvGraphicFramePr>
        <p:xfrm>
          <a:off x="508781" y="3483522"/>
          <a:ext cx="8156527" cy="1287210"/>
        </p:xfrm>
        <a:graphic>
          <a:graphicData uri="http://schemas.openxmlformats.org/drawingml/2006/table">
            <a:tbl>
              <a:tblPr firstRow="1" bandRow="1">
                <a:tableStyleId>{85BE263C-DBD7-4A20-BB59-AAB30ACAA65A}</a:tableStyleId>
              </a:tblPr>
              <a:tblGrid>
                <a:gridCol w="2396585">
                  <a:extLst>
                    <a:ext uri="{9D8B030D-6E8A-4147-A177-3AD203B41FA5}">
                      <a16:colId xmlns:a16="http://schemas.microsoft.com/office/drawing/2014/main" val="837683174"/>
                    </a:ext>
                  </a:extLst>
                </a:gridCol>
                <a:gridCol w="2120731">
                  <a:extLst>
                    <a:ext uri="{9D8B030D-6E8A-4147-A177-3AD203B41FA5}">
                      <a16:colId xmlns:a16="http://schemas.microsoft.com/office/drawing/2014/main" val="1631658706"/>
                    </a:ext>
                  </a:extLst>
                </a:gridCol>
                <a:gridCol w="1821269">
                  <a:extLst>
                    <a:ext uri="{9D8B030D-6E8A-4147-A177-3AD203B41FA5}">
                      <a16:colId xmlns:a16="http://schemas.microsoft.com/office/drawing/2014/main" val="347696054"/>
                    </a:ext>
                  </a:extLst>
                </a:gridCol>
                <a:gridCol w="1817942">
                  <a:extLst>
                    <a:ext uri="{9D8B030D-6E8A-4147-A177-3AD203B41FA5}">
                      <a16:colId xmlns:a16="http://schemas.microsoft.com/office/drawing/2014/main" val="1931730369"/>
                    </a:ext>
                  </a:extLst>
                </a:gridCol>
              </a:tblGrid>
              <a:tr h="0">
                <a:tc>
                  <a:txBody>
                    <a:bodyPr/>
                    <a:lstStyle/>
                    <a:p>
                      <a:pPr algn="ctr"/>
                      <a:r>
                        <a:rPr lang="en-IN" sz="1200" dirty="0">
                          <a:solidFill>
                            <a:schemeClr val="tx1"/>
                          </a:solidFill>
                          <a:latin typeface="Times New Roman" panose="02020603050405020304" pitchFamily="18" charset="0"/>
                          <a:cs typeface="Times New Roman" panose="02020603050405020304" pitchFamily="18" charset="0"/>
                        </a:rPr>
                        <a:t>Company Name</a:t>
                      </a:r>
                    </a:p>
                  </a:txBody>
                  <a:tcPr anchor="ctr"/>
                </a:tc>
                <a:tc>
                  <a:txBody>
                    <a:bodyPr/>
                    <a:lstStyle/>
                    <a:p>
                      <a:pPr algn="ctr"/>
                      <a:r>
                        <a:rPr lang="en-IN" sz="1200" dirty="0">
                          <a:solidFill>
                            <a:schemeClr val="tx1"/>
                          </a:solidFill>
                          <a:latin typeface="Times New Roman" panose="02020603050405020304" pitchFamily="18" charset="0"/>
                          <a:cs typeface="Times New Roman" panose="02020603050405020304" pitchFamily="18" charset="0"/>
                        </a:rPr>
                        <a:t>Quantity Purchased</a:t>
                      </a:r>
                    </a:p>
                  </a:txBody>
                  <a:tcPr anchor="ctr"/>
                </a:tc>
                <a:tc>
                  <a:txBody>
                    <a:bodyPr/>
                    <a:lstStyle/>
                    <a:p>
                      <a:pPr algn="ctr"/>
                      <a:r>
                        <a:rPr lang="en-IN" sz="1200" dirty="0">
                          <a:solidFill>
                            <a:schemeClr val="tx1"/>
                          </a:solidFill>
                          <a:latin typeface="Times New Roman" panose="02020603050405020304" pitchFamily="18" charset="0"/>
                          <a:cs typeface="Times New Roman" panose="02020603050405020304" pitchFamily="18" charset="0"/>
                        </a:rPr>
                        <a:t>Purchase Price</a:t>
                      </a:r>
                    </a:p>
                    <a:p>
                      <a:pPr algn="ctr"/>
                      <a:r>
                        <a:rPr lang="en-IN" sz="1200" dirty="0">
                          <a:solidFill>
                            <a:schemeClr val="tx1"/>
                          </a:solidFill>
                          <a:latin typeface="Times New Roman" panose="02020603050405020304" pitchFamily="18" charset="0"/>
                          <a:cs typeface="Times New Roman" panose="02020603050405020304" pitchFamily="18" charset="0"/>
                        </a:rPr>
                        <a:t>(3rd August, ₹)</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Amount Invested</a:t>
                      </a:r>
                      <a:r>
                        <a:rPr lang="en-IN" sz="12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383311105"/>
                  </a:ext>
                </a:extLst>
              </a:tr>
              <a:tr h="245225">
                <a:tc>
                  <a:txBody>
                    <a:bodyPr/>
                    <a:lstStyle/>
                    <a:p>
                      <a:pPr marL="0" indent="0" algn="ctr">
                        <a:lnSpc>
                          <a:spcPct val="109000"/>
                        </a:lnSpc>
                        <a:buNone/>
                      </a:pPr>
                      <a:r>
                        <a:rPr lang="en-US" sz="1200" dirty="0" err="1">
                          <a:solidFill>
                            <a:srgbClr val="0070C0"/>
                          </a:solidFill>
                          <a:latin typeface="Times New Roman" panose="02020603050405020304" pitchFamily="18" charset="0"/>
                          <a:ea typeface="Inter" pitchFamily="34" charset="-122"/>
                          <a:cs typeface="Times New Roman" panose="02020603050405020304" pitchFamily="18" charset="0"/>
                        </a:rPr>
                        <a:t>Interglobe</a:t>
                      </a:r>
                      <a:r>
                        <a:rPr lang="en-US" sz="1200" dirty="0">
                          <a:solidFill>
                            <a:srgbClr val="0070C0"/>
                          </a:solidFill>
                          <a:latin typeface="Times New Roman" panose="02020603050405020304" pitchFamily="18" charset="0"/>
                          <a:ea typeface="Inter" pitchFamily="34" charset="-122"/>
                          <a:cs typeface="Times New Roman" panose="02020603050405020304" pitchFamily="18" charset="0"/>
                        </a:rPr>
                        <a:t> Aviation Ltd</a:t>
                      </a:r>
                      <a:endParaRPr lang="en-US" sz="1200" dirty="0">
                        <a:solidFill>
                          <a:srgbClr val="0070C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rgbClr val="0070C0"/>
                          </a:solidFill>
                          <a:latin typeface="Times New Roman" panose="02020603050405020304" pitchFamily="18" charset="0"/>
                          <a:cs typeface="Times New Roman" panose="02020603050405020304" pitchFamily="18" charset="0"/>
                        </a:rPr>
                        <a:t>30</a:t>
                      </a:r>
                      <a:endParaRPr lang="en-IN" sz="1200" dirty="0">
                        <a:solidFill>
                          <a:srgbClr val="0070C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rgbClr val="0070C0"/>
                          </a:solidFill>
                          <a:latin typeface="Times New Roman" panose="02020603050405020304" pitchFamily="18" charset="0"/>
                          <a:ea typeface="Inter" pitchFamily="34" charset="-122"/>
                          <a:cs typeface="Times New Roman" panose="02020603050405020304" pitchFamily="18" charset="0"/>
                        </a:rPr>
                        <a:t>5,346.00</a:t>
                      </a:r>
                      <a:endParaRPr lang="en-IN" sz="1200" dirty="0">
                        <a:solidFill>
                          <a:srgbClr val="0070C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rgbClr val="0070C0"/>
                          </a:solidFill>
                          <a:latin typeface="Times New Roman" panose="02020603050405020304" pitchFamily="18" charset="0"/>
                          <a:ea typeface="Inter" pitchFamily="34" charset="-122"/>
                          <a:cs typeface="Times New Roman" panose="02020603050405020304" pitchFamily="18" charset="0"/>
                        </a:rPr>
                        <a:t>1,60,380.00</a:t>
                      </a:r>
                      <a:endParaRPr lang="en-IN" sz="1200" dirty="0">
                        <a:solidFill>
                          <a:srgbClr val="0070C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00338604"/>
                  </a:ext>
                </a:extLst>
              </a:tr>
              <a:tr h="122721">
                <a:tc>
                  <a:txBody>
                    <a:bodyPr/>
                    <a:lstStyle/>
                    <a:p>
                      <a:pPr marL="0" indent="0" algn="ctr">
                        <a:lnSpc>
                          <a:spcPct val="109000"/>
                        </a:lnSpc>
                        <a:buNone/>
                      </a:pPr>
                      <a:r>
                        <a:rPr lang="en-US" sz="1200" dirty="0">
                          <a:solidFill>
                            <a:srgbClr val="00B050"/>
                          </a:solidFill>
                          <a:latin typeface="Times New Roman" panose="02020603050405020304" pitchFamily="18" charset="0"/>
                          <a:ea typeface="Inter" pitchFamily="34" charset="-122"/>
                          <a:cs typeface="Times New Roman" panose="02020603050405020304" pitchFamily="18" charset="0"/>
                        </a:rPr>
                        <a:t>Larsen &amp; Toubro Ltd</a:t>
                      </a:r>
                      <a:endParaRPr lang="en-US" sz="1200"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rgbClr val="00B050"/>
                          </a:solidFill>
                          <a:latin typeface="Times New Roman" panose="02020603050405020304" pitchFamily="18" charset="0"/>
                          <a:cs typeface="Times New Roman" panose="02020603050405020304" pitchFamily="18" charset="0"/>
                        </a:rPr>
                        <a:t>35</a:t>
                      </a:r>
                      <a:endParaRPr lang="en-IN" sz="1200"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marL="0" indent="0" algn="ctr">
                        <a:lnSpc>
                          <a:spcPct val="109000"/>
                        </a:lnSpc>
                        <a:buNone/>
                      </a:pPr>
                      <a:r>
                        <a:rPr lang="en-US" sz="1200" dirty="0">
                          <a:solidFill>
                            <a:srgbClr val="00B050"/>
                          </a:solidFill>
                          <a:latin typeface="Times New Roman" panose="02020603050405020304" pitchFamily="18" charset="0"/>
                          <a:ea typeface="Inter" pitchFamily="34" charset="-122"/>
                          <a:cs typeface="Times New Roman" panose="02020603050405020304" pitchFamily="18" charset="0"/>
                        </a:rPr>
                        <a:t>3,980.00</a:t>
                      </a:r>
                      <a:endParaRPr lang="en-US" sz="1200" dirty="0">
                        <a:solidFill>
                          <a:srgbClr val="00B050"/>
                        </a:solidFill>
                        <a:latin typeface="Times New Roman" panose="02020603050405020304" pitchFamily="18" charset="0"/>
                        <a:cs typeface="Times New Roman" panose="02020603050405020304" pitchFamily="18" charset="0"/>
                      </a:endParaRPr>
                    </a:p>
                  </a:txBody>
                  <a:tcPr anchor="ctr"/>
                </a:tc>
                <a:tc>
                  <a:txBody>
                    <a:bodyPr/>
                    <a:lstStyle/>
                    <a:p>
                      <a:pPr marL="0" indent="0" algn="ctr">
                        <a:lnSpc>
                          <a:spcPct val="109000"/>
                        </a:lnSpc>
                        <a:buNone/>
                      </a:pPr>
                      <a:r>
                        <a:rPr lang="en-US" sz="1200" dirty="0">
                          <a:solidFill>
                            <a:srgbClr val="00B050"/>
                          </a:solidFill>
                          <a:latin typeface="Times New Roman" panose="02020603050405020304" pitchFamily="18" charset="0"/>
                          <a:ea typeface="Inter" pitchFamily="34" charset="-122"/>
                          <a:cs typeface="Times New Roman" panose="02020603050405020304" pitchFamily="18" charset="0"/>
                        </a:rPr>
                        <a:t>1,39,300.00</a:t>
                      </a:r>
                      <a:endParaRPr lang="en-US" sz="1200" dirty="0">
                        <a:solidFill>
                          <a:srgbClr val="00B05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05148038"/>
                  </a:ext>
                </a:extLst>
              </a:tr>
              <a:tr h="197536">
                <a:tc>
                  <a:txBody>
                    <a:bodyPr/>
                    <a:lstStyle/>
                    <a:p>
                      <a:pPr marL="0" marR="0" lvl="0" indent="0" algn="ctr" defTabSz="685800" rtl="0" eaLnBrk="1" fontAlgn="auto" latinLnBrk="0" hangingPunct="1">
                        <a:lnSpc>
                          <a:spcPct val="109000"/>
                        </a:lnSpc>
                        <a:spcBef>
                          <a:spcPts val="0"/>
                        </a:spcBef>
                        <a:spcAft>
                          <a:spcPts val="0"/>
                        </a:spcAft>
                        <a:buClrTx/>
                        <a:buSzTx/>
                        <a:buFontTx/>
                        <a:buNone/>
                        <a:tabLst/>
                        <a:defRPr/>
                      </a:pPr>
                      <a:r>
                        <a:rPr lang="en-US" sz="1200" dirty="0">
                          <a:solidFill>
                            <a:schemeClr val="accent4">
                              <a:lumMod val="50000"/>
                            </a:schemeClr>
                          </a:solidFill>
                          <a:latin typeface="Times New Roman" panose="02020603050405020304" pitchFamily="18" charset="0"/>
                          <a:ea typeface="Inter" pitchFamily="34" charset="-122"/>
                          <a:cs typeface="Times New Roman" panose="02020603050405020304" pitchFamily="18" charset="0"/>
                        </a:rPr>
                        <a:t>Siemens</a:t>
                      </a:r>
                      <a:endParaRPr lang="en-US" sz="1200" dirty="0">
                        <a:solidFill>
                          <a:schemeClr val="accent4">
                            <a:lumMod val="50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chemeClr val="accent4">
                              <a:lumMod val="50000"/>
                            </a:schemeClr>
                          </a:solidFill>
                          <a:latin typeface="Times New Roman" panose="02020603050405020304" pitchFamily="18" charset="0"/>
                          <a:cs typeface="Times New Roman" panose="02020603050405020304" pitchFamily="18" charset="0"/>
                        </a:rPr>
                        <a:t>33</a:t>
                      </a:r>
                      <a:endParaRPr lang="en-IN" sz="1200" dirty="0">
                        <a:solidFill>
                          <a:schemeClr val="accent4">
                            <a:lumMod val="50000"/>
                          </a:schemeClr>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solidFill>
                            <a:schemeClr val="accent4">
                              <a:lumMod val="50000"/>
                            </a:schemeClr>
                          </a:solidFill>
                          <a:latin typeface="Times New Roman" panose="02020603050405020304" pitchFamily="18" charset="0"/>
                          <a:ea typeface="Inter" pitchFamily="34" charset="-122"/>
                          <a:cs typeface="Times New Roman" panose="02020603050405020304" pitchFamily="18" charset="0"/>
                        </a:rPr>
                        <a:t>3,734.60</a:t>
                      </a:r>
                      <a:endParaRPr lang="en-US" sz="1200" dirty="0">
                        <a:solidFill>
                          <a:schemeClr val="accent4">
                            <a:lumMod val="50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1200" dirty="0">
                          <a:solidFill>
                            <a:schemeClr val="accent4">
                              <a:lumMod val="50000"/>
                            </a:schemeClr>
                          </a:solidFill>
                          <a:latin typeface="Times New Roman" panose="02020603050405020304" pitchFamily="18" charset="0"/>
                          <a:ea typeface="Inter" pitchFamily="34" charset="-122"/>
                          <a:cs typeface="Times New Roman" panose="02020603050405020304" pitchFamily="18" charset="0"/>
                        </a:rPr>
                        <a:t>1,23,241.80</a:t>
                      </a:r>
                      <a:endParaRPr lang="en-IN" sz="1200" dirty="0">
                        <a:solidFill>
                          <a:schemeClr val="accent4">
                            <a:lumMod val="50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9828866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ext 0"/>
          <p:cNvSpPr/>
          <p:nvPr/>
        </p:nvSpPr>
        <p:spPr>
          <a:xfrm>
            <a:off x="496119" y="226330"/>
            <a:ext cx="8151763" cy="327050"/>
          </a:xfrm>
          <a:prstGeom prst="rect">
            <a:avLst/>
          </a:prstGeom>
          <a:noFill/>
          <a:ln/>
        </p:spPr>
        <p:txBody>
          <a:bodyPr wrap="none" lIns="0" tIns="0" rIns="0" bIns="0" rtlCol="0" anchor="t"/>
          <a:lstStyle/>
          <a:p>
            <a:pPr marL="0" indent="0" algn="ctr">
              <a:lnSpc>
                <a:spcPct val="104000"/>
              </a:lnSpc>
              <a:buNone/>
            </a:pPr>
            <a:r>
              <a:rPr lang="en-US" sz="2100" b="1" dirty="0">
                <a:solidFill>
                  <a:srgbClr val="000000"/>
                </a:solidFill>
                <a:latin typeface="Times New Roman" panose="02020603050405020304" pitchFamily="18" charset="0"/>
                <a:ea typeface="Petrona Bold" pitchFamily="34" charset="-122"/>
                <a:cs typeface="Times New Roman" panose="02020603050405020304" pitchFamily="18" charset="0"/>
              </a:rPr>
              <a:t>Tactical Holdings: Investment Rationale</a:t>
            </a:r>
            <a:endParaRPr lang="en-US" sz="2100" dirty="0">
              <a:latin typeface="Times New Roman" panose="02020603050405020304" pitchFamily="18" charset="0"/>
              <a:cs typeface="Times New Roman" panose="02020603050405020304" pitchFamily="18" charset="0"/>
            </a:endParaRPr>
          </a:p>
        </p:txBody>
      </p:sp>
      <p:sp>
        <p:nvSpPr>
          <p:cNvPr id="3" name="Text 1"/>
          <p:cNvSpPr/>
          <p:nvPr/>
        </p:nvSpPr>
        <p:spPr>
          <a:xfrm>
            <a:off x="496119" y="659603"/>
            <a:ext cx="8151763" cy="163488"/>
          </a:xfrm>
          <a:prstGeom prst="rect">
            <a:avLst/>
          </a:prstGeom>
          <a:noFill/>
          <a:ln/>
        </p:spPr>
        <p:txBody>
          <a:bodyPr wrap="none" lIns="0" tIns="0" rIns="0" bIns="0" rtlCol="0" anchor="t"/>
          <a:lstStyle/>
          <a:p>
            <a:pPr marL="0" indent="0" algn="ctr">
              <a:lnSpc>
                <a:spcPct val="104000"/>
              </a:lnSpc>
              <a:buNone/>
            </a:pPr>
            <a:r>
              <a:rPr lang="en-US" sz="1000" b="1" dirty="0">
                <a:solidFill>
                  <a:srgbClr val="000000"/>
                </a:solidFill>
                <a:latin typeface="Times New Roman" panose="02020603050405020304" pitchFamily="18" charset="0"/>
                <a:ea typeface="Petrona Bold" pitchFamily="34" charset="-122"/>
                <a:cs typeface="Times New Roman" panose="02020603050405020304" pitchFamily="18" charset="0"/>
              </a:rPr>
              <a:t>Selective investments chosen to enhance portfolio diversification while capturing niche growth opportunities.</a:t>
            </a:r>
            <a:endParaRPr lang="en-US" sz="1000" dirty="0">
              <a:latin typeface="Times New Roman" panose="02020603050405020304" pitchFamily="18" charset="0"/>
              <a:cs typeface="Times New Roman" panose="02020603050405020304" pitchFamily="18" charset="0"/>
            </a:endParaRPr>
          </a:p>
        </p:txBody>
      </p:sp>
      <p:sp>
        <p:nvSpPr>
          <p:cNvPr id="5" name="Text 3"/>
          <p:cNvSpPr/>
          <p:nvPr/>
        </p:nvSpPr>
        <p:spPr>
          <a:xfrm>
            <a:off x="491356" y="1195869"/>
            <a:ext cx="3954289" cy="163488"/>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Ashok Leyland</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496119" y="1459781"/>
            <a:ext cx="4411489" cy="135806"/>
          </a:xfrm>
          <a:prstGeom prst="rect">
            <a:avLst/>
          </a:prstGeom>
          <a:noFill/>
          <a:ln/>
        </p:spPr>
        <p:txBody>
          <a:bodyPr wrap="none" lIns="0" tIns="0" rIns="0" bIns="0" rtlCol="0" anchor="t"/>
          <a:lstStyle/>
          <a:p>
            <a:pPr marL="171450" indent="-171450" algn="l">
              <a:lnSpc>
                <a:spcPct val="114000"/>
              </a:lnSpc>
              <a:buFont typeface="Wingdings" panose="05000000000000000000" pitchFamily="2" charset="2"/>
              <a:buChar char="q"/>
            </a:pPr>
            <a:r>
              <a:rPr lang="en-US" sz="1000" b="1" dirty="0">
                <a:solidFill>
                  <a:srgbClr val="7030A0"/>
                </a:solidFill>
                <a:latin typeface="Times New Roman" panose="02020603050405020304" pitchFamily="18" charset="0"/>
                <a:ea typeface="Inter Bold" pitchFamily="34" charset="-122"/>
                <a:cs typeface="Times New Roman" panose="02020603050405020304" pitchFamily="18" charset="0"/>
              </a:rPr>
              <a:t>AUTOMOTIVE</a:t>
            </a:r>
            <a:endParaRPr lang="en-US" sz="1000" dirty="0">
              <a:solidFill>
                <a:srgbClr val="7030A0"/>
              </a:solidFill>
              <a:latin typeface="Times New Roman" panose="02020603050405020304" pitchFamily="18" charset="0"/>
              <a:cs typeface="Times New Roman" panose="02020603050405020304" pitchFamily="18" charset="0"/>
            </a:endParaRPr>
          </a:p>
        </p:txBody>
      </p:sp>
      <p:sp>
        <p:nvSpPr>
          <p:cNvPr id="7" name="Text 5"/>
          <p:cNvSpPr/>
          <p:nvPr/>
        </p:nvSpPr>
        <p:spPr>
          <a:xfrm>
            <a:off x="496119" y="1696011"/>
            <a:ext cx="3954289" cy="163488"/>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Times New Roman" panose="02020603050405020304" pitchFamily="18" charset="0"/>
                <a:ea typeface="Petrona Bold" pitchFamily="34" charset="-122"/>
                <a:cs typeface="Times New Roman" panose="02020603050405020304" pitchFamily="18" charset="0"/>
              </a:rPr>
              <a:t>Investment Thesis</a:t>
            </a:r>
            <a:endParaRPr lang="en-US" sz="1200" dirty="0">
              <a:latin typeface="Times New Roman" panose="02020603050405020304" pitchFamily="18" charset="0"/>
              <a:cs typeface="Times New Roman" panose="02020603050405020304" pitchFamily="18" charset="0"/>
            </a:endParaRPr>
          </a:p>
        </p:txBody>
      </p:sp>
      <p:sp>
        <p:nvSpPr>
          <p:cNvPr id="8" name="Text 6"/>
          <p:cNvSpPr/>
          <p:nvPr/>
        </p:nvSpPr>
        <p:spPr>
          <a:xfrm>
            <a:off x="496119" y="1972663"/>
            <a:ext cx="3954289" cy="616669"/>
          </a:xfrm>
          <a:prstGeom prst="rect">
            <a:avLst/>
          </a:prstGeom>
          <a:noFill/>
          <a:ln/>
        </p:spPr>
        <p:txBody>
          <a:bodyPr wrap="square" lIns="0" tIns="0" rIns="0" bIns="0" rtlCol="0" anchor="t">
            <a:noAutofit/>
          </a:bodyPr>
          <a:lstStyle/>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One of India's leading commercial vehicle manufacturers.</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Well-positioned to benefit from infrastructure and logistics expansion.</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Strong presence in the commercial vehicle segment.</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Attractive long-term cyclical growth potential.</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509141" y="2816896"/>
            <a:ext cx="3954289" cy="163488"/>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Times New Roman" panose="02020603050405020304" pitchFamily="18" charset="0"/>
                <a:ea typeface="Petrona Bold" pitchFamily="34" charset="-122"/>
                <a:cs typeface="Times New Roman" panose="02020603050405020304" pitchFamily="18" charset="0"/>
              </a:rPr>
              <a:t>Strategic Role</a:t>
            </a:r>
            <a:endParaRPr lang="en-US" sz="1100" dirty="0">
              <a:latin typeface="Times New Roman" panose="02020603050405020304" pitchFamily="18" charset="0"/>
              <a:cs typeface="Times New Roman" panose="02020603050405020304" pitchFamily="18" charset="0"/>
            </a:endParaRPr>
          </a:p>
        </p:txBody>
      </p:sp>
      <p:sp>
        <p:nvSpPr>
          <p:cNvPr id="10" name="Text 8"/>
          <p:cNvSpPr/>
          <p:nvPr/>
        </p:nvSpPr>
        <p:spPr>
          <a:xfrm>
            <a:off x="491355" y="3050210"/>
            <a:ext cx="3954289" cy="456381"/>
          </a:xfrm>
          <a:prstGeom prst="rect">
            <a:avLst/>
          </a:prstGeom>
          <a:noFill/>
          <a:ln/>
        </p:spPr>
        <p:txBody>
          <a:bodyPr wrap="square" lIns="0" tIns="0" rIns="0" bIns="0" rtlCol="0" anchor="t">
            <a:noAutofit/>
          </a:bodyPr>
          <a:lstStyle/>
          <a:p>
            <a:pPr marL="171450" indent="-171450" algn="l">
              <a:lnSpc>
                <a:spcPct val="114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Provides automotive sector exposure.</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Strengthens portfolio diversification.</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ü"/>
            </a:pPr>
            <a:r>
              <a:rPr lang="en-US" sz="1050" dirty="0">
                <a:solidFill>
                  <a:srgbClr val="E67E22"/>
                </a:solidFill>
                <a:latin typeface="Times New Roman" panose="02020603050405020304" pitchFamily="18" charset="0"/>
                <a:ea typeface="Inter" pitchFamily="34" charset="-122"/>
                <a:cs typeface="Times New Roman" panose="02020603050405020304" pitchFamily="18" charset="0"/>
              </a:rPr>
              <a:t>Portfolio Weight: 2.59%</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4698355" y="1178012"/>
            <a:ext cx="3954289" cy="163488"/>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Times New Roman" panose="02020603050405020304" pitchFamily="18" charset="0"/>
                <a:ea typeface="Petrona Bold" pitchFamily="34" charset="-122"/>
                <a:cs typeface="Times New Roman" panose="02020603050405020304" pitchFamily="18" charset="0"/>
              </a:rPr>
              <a:t>Eternal</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698355" y="1459781"/>
            <a:ext cx="4411489" cy="135806"/>
          </a:xfrm>
          <a:prstGeom prst="rect">
            <a:avLst/>
          </a:prstGeom>
          <a:noFill/>
          <a:ln/>
        </p:spPr>
        <p:txBody>
          <a:bodyPr wrap="none" lIns="0" tIns="0" rIns="0" bIns="0" rtlCol="0" anchor="t"/>
          <a:lstStyle/>
          <a:p>
            <a:pPr marL="171450" indent="-171450" algn="l">
              <a:lnSpc>
                <a:spcPct val="114000"/>
              </a:lnSpc>
              <a:buFont typeface="Wingdings" panose="05000000000000000000" pitchFamily="2" charset="2"/>
              <a:buChar char="q"/>
            </a:pPr>
            <a:r>
              <a:rPr lang="en-US" sz="1000" b="1" dirty="0">
                <a:solidFill>
                  <a:srgbClr val="CC0000"/>
                </a:solidFill>
                <a:latin typeface="Times New Roman" panose="02020603050405020304" pitchFamily="18" charset="0"/>
                <a:ea typeface="Inter Bold" pitchFamily="34" charset="-122"/>
                <a:cs typeface="Times New Roman" panose="02020603050405020304" pitchFamily="18" charset="0"/>
              </a:rPr>
              <a:t>E-COMMERCE</a:t>
            </a:r>
            <a:endParaRPr lang="en-US" sz="1000" dirty="0">
              <a:solidFill>
                <a:srgbClr val="CC0000"/>
              </a:solidFill>
              <a:latin typeface="Times New Roman" panose="02020603050405020304" pitchFamily="18" charset="0"/>
              <a:cs typeface="Times New Roman" panose="02020603050405020304" pitchFamily="18" charset="0"/>
            </a:endParaRPr>
          </a:p>
        </p:txBody>
      </p:sp>
      <p:sp>
        <p:nvSpPr>
          <p:cNvPr id="13" name="Text 11"/>
          <p:cNvSpPr/>
          <p:nvPr/>
        </p:nvSpPr>
        <p:spPr>
          <a:xfrm>
            <a:off x="4698355" y="1696011"/>
            <a:ext cx="3954289" cy="163488"/>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Times New Roman" panose="02020603050405020304" pitchFamily="18" charset="0"/>
                <a:ea typeface="Petrona Bold" pitchFamily="34" charset="-122"/>
                <a:cs typeface="Times New Roman" panose="02020603050405020304" pitchFamily="18" charset="0"/>
              </a:rPr>
              <a:t>Investment Thesis</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4698355" y="1942227"/>
            <a:ext cx="3954289" cy="616669"/>
          </a:xfrm>
          <a:prstGeom prst="rect">
            <a:avLst/>
          </a:prstGeom>
          <a:noFill/>
          <a:ln/>
        </p:spPr>
        <p:txBody>
          <a:bodyPr wrap="square" lIns="0" tIns="0" rIns="0" bIns="0" rtlCol="0" anchor="t">
            <a:noAutofit/>
          </a:bodyPr>
          <a:lstStyle/>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Represents India's rapidly expanding digital economy.</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Exposure to long-term growth in online commerce.</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Technology-driven business with scalable operations.</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Ø"/>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Complements traditional sectors within the portfolio.</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4698355" y="2821529"/>
            <a:ext cx="3954289" cy="163488"/>
          </a:xfrm>
          <a:prstGeom prst="rect">
            <a:avLst/>
          </a:prstGeom>
          <a:noFill/>
          <a:ln/>
        </p:spPr>
        <p:txBody>
          <a:bodyPr wrap="none" lIns="0" tIns="0" rIns="0" bIns="0" rtlCol="0" anchor="t"/>
          <a:lstStyle/>
          <a:p>
            <a:pPr marL="0" indent="0" algn="l">
              <a:lnSpc>
                <a:spcPct val="104000"/>
              </a:lnSpc>
              <a:buNone/>
            </a:pPr>
            <a:r>
              <a:rPr lang="en-US" sz="1100" b="1" dirty="0">
                <a:solidFill>
                  <a:srgbClr val="000000"/>
                </a:solidFill>
                <a:latin typeface="Times New Roman" panose="02020603050405020304" pitchFamily="18" charset="0"/>
                <a:ea typeface="Petrona Bold" pitchFamily="34" charset="-122"/>
                <a:cs typeface="Times New Roman" panose="02020603050405020304" pitchFamily="18" charset="0"/>
              </a:rPr>
              <a:t>Strategic Role</a:t>
            </a:r>
            <a:endParaRPr lang="en-US" sz="1100" dirty="0">
              <a:latin typeface="Times New Roman" panose="02020603050405020304" pitchFamily="18" charset="0"/>
              <a:cs typeface="Times New Roman" panose="02020603050405020304" pitchFamily="18" charset="0"/>
            </a:endParaRPr>
          </a:p>
        </p:txBody>
      </p:sp>
      <p:sp>
        <p:nvSpPr>
          <p:cNvPr id="16" name="Text 14"/>
          <p:cNvSpPr/>
          <p:nvPr/>
        </p:nvSpPr>
        <p:spPr>
          <a:xfrm>
            <a:off x="4662785" y="3055811"/>
            <a:ext cx="3954289" cy="456381"/>
          </a:xfrm>
          <a:prstGeom prst="rect">
            <a:avLst/>
          </a:prstGeom>
          <a:noFill/>
          <a:ln/>
        </p:spPr>
        <p:txBody>
          <a:bodyPr wrap="square" lIns="0" tIns="0" rIns="0" bIns="0" rtlCol="0" anchor="t">
            <a:noAutofit/>
          </a:bodyPr>
          <a:lstStyle/>
          <a:p>
            <a:pPr marL="171450" indent="-171450" algn="l">
              <a:lnSpc>
                <a:spcPct val="114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Adds exposure to digital consumer businesses.</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ü"/>
            </a:pPr>
            <a:r>
              <a:rPr lang="en-US" sz="1050" dirty="0">
                <a:solidFill>
                  <a:srgbClr val="272525"/>
                </a:solidFill>
                <a:latin typeface="Times New Roman" panose="02020603050405020304" pitchFamily="18" charset="0"/>
                <a:ea typeface="Inter" pitchFamily="34" charset="-122"/>
                <a:cs typeface="Times New Roman" panose="02020603050405020304" pitchFamily="18" charset="0"/>
              </a:rPr>
              <a:t>Supports long-term portfolio diversification.</a:t>
            </a:r>
            <a:endParaRPr lang="en-US" sz="1050" dirty="0">
              <a:latin typeface="Times New Roman" panose="02020603050405020304" pitchFamily="18" charset="0"/>
              <a:cs typeface="Times New Roman" panose="02020603050405020304" pitchFamily="18" charset="0"/>
            </a:endParaRPr>
          </a:p>
          <a:p>
            <a:pPr marL="171450" indent="-171450" algn="l">
              <a:lnSpc>
                <a:spcPct val="114000"/>
              </a:lnSpc>
              <a:buSzPct val="100000"/>
              <a:buFont typeface="Wingdings" panose="05000000000000000000" pitchFamily="2" charset="2"/>
              <a:buChar char="ü"/>
            </a:pPr>
            <a:r>
              <a:rPr lang="en-US" sz="1050" dirty="0">
                <a:solidFill>
                  <a:srgbClr val="E67E22"/>
                </a:solidFill>
                <a:latin typeface="Times New Roman" panose="02020603050405020304" pitchFamily="18" charset="0"/>
                <a:ea typeface="Inter" pitchFamily="34" charset="-122"/>
                <a:cs typeface="Times New Roman" panose="02020603050405020304" pitchFamily="18" charset="0"/>
              </a:rPr>
              <a:t>Portfolio Weight: 2.32%</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496119" y="3456988"/>
            <a:ext cx="8151763" cy="707306"/>
          </a:xfrm>
          <a:prstGeom prst="roundRect">
            <a:avLst>
              <a:gd name="adj" fmla="val 5919"/>
            </a:avLst>
          </a:prstGeom>
          <a:noFill/>
          <a:ln w="4763">
            <a:solidFill>
              <a:srgbClr val="000000">
                <a:alpha val="8000"/>
              </a:srgbClr>
            </a:solidFill>
            <a:prstDash val="solid"/>
          </a:ln>
        </p:spPr>
      </p:sp>
      <p:sp>
        <p:nvSpPr>
          <p:cNvPr id="18" name="Shape 16"/>
          <p:cNvSpPr/>
          <p:nvPr/>
        </p:nvSpPr>
        <p:spPr>
          <a:xfrm>
            <a:off x="496119" y="3615556"/>
            <a:ext cx="8151763" cy="6230"/>
          </a:xfrm>
          <a:prstGeom prst="rect">
            <a:avLst/>
          </a:prstGeom>
          <a:solidFill>
            <a:srgbClr val="000000">
              <a:alpha val="8000"/>
            </a:srgbClr>
          </a:solidFill>
          <a:ln/>
        </p:spPr>
      </p:sp>
      <p:sp>
        <p:nvSpPr>
          <p:cNvPr id="19" name="Shape 17"/>
          <p:cNvSpPr/>
          <p:nvPr/>
        </p:nvSpPr>
        <p:spPr>
          <a:xfrm>
            <a:off x="496119" y="3849737"/>
            <a:ext cx="8151763" cy="6230"/>
          </a:xfrm>
          <a:prstGeom prst="rect">
            <a:avLst/>
          </a:prstGeom>
          <a:solidFill>
            <a:srgbClr val="000000">
              <a:alpha val="8000"/>
            </a:srgbClr>
          </a:solidFill>
          <a:ln/>
        </p:spPr>
      </p:sp>
      <p:graphicFrame>
        <p:nvGraphicFramePr>
          <p:cNvPr id="37" name="Table 36">
            <a:extLst>
              <a:ext uri="{FF2B5EF4-FFF2-40B4-BE49-F238E27FC236}">
                <a16:creationId xmlns:a16="http://schemas.microsoft.com/office/drawing/2014/main" id="{315B447F-BFA9-FA00-6428-4CFF57DDDDE4}"/>
              </a:ext>
            </a:extLst>
          </p:cNvPr>
          <p:cNvGraphicFramePr>
            <a:graphicFrameLocks noGrp="1"/>
          </p:cNvGraphicFramePr>
          <p:nvPr>
            <p:extLst>
              <p:ext uri="{D42A27DB-BD31-4B8C-83A1-F6EECF244321}">
                <p14:modId xmlns:p14="http://schemas.microsoft.com/office/powerpoint/2010/main" val="3209071721"/>
              </p:ext>
            </p:extLst>
          </p:nvPr>
        </p:nvGraphicFramePr>
        <p:xfrm>
          <a:off x="475486" y="3743030"/>
          <a:ext cx="8156527" cy="1005840"/>
        </p:xfrm>
        <a:graphic>
          <a:graphicData uri="http://schemas.openxmlformats.org/drawingml/2006/table">
            <a:tbl>
              <a:tblPr firstRow="1" bandRow="1">
                <a:tableStyleId>{85BE263C-DBD7-4A20-BB59-AAB30ACAA65A}</a:tableStyleId>
              </a:tblPr>
              <a:tblGrid>
                <a:gridCol w="2396585">
                  <a:extLst>
                    <a:ext uri="{9D8B030D-6E8A-4147-A177-3AD203B41FA5}">
                      <a16:colId xmlns:a16="http://schemas.microsoft.com/office/drawing/2014/main" val="837683174"/>
                    </a:ext>
                  </a:extLst>
                </a:gridCol>
                <a:gridCol w="2120731">
                  <a:extLst>
                    <a:ext uri="{9D8B030D-6E8A-4147-A177-3AD203B41FA5}">
                      <a16:colId xmlns:a16="http://schemas.microsoft.com/office/drawing/2014/main" val="1631658706"/>
                    </a:ext>
                  </a:extLst>
                </a:gridCol>
                <a:gridCol w="1821269">
                  <a:extLst>
                    <a:ext uri="{9D8B030D-6E8A-4147-A177-3AD203B41FA5}">
                      <a16:colId xmlns:a16="http://schemas.microsoft.com/office/drawing/2014/main" val="347696054"/>
                    </a:ext>
                  </a:extLst>
                </a:gridCol>
                <a:gridCol w="1817942">
                  <a:extLst>
                    <a:ext uri="{9D8B030D-6E8A-4147-A177-3AD203B41FA5}">
                      <a16:colId xmlns:a16="http://schemas.microsoft.com/office/drawing/2014/main" val="1931730369"/>
                    </a:ext>
                  </a:extLst>
                </a:gridCol>
              </a:tblGrid>
              <a:tr h="231386">
                <a:tc>
                  <a:txBody>
                    <a:bodyPr/>
                    <a:lstStyle/>
                    <a:p>
                      <a:pPr algn="ctr"/>
                      <a:r>
                        <a:rPr lang="en-IN" sz="1200" dirty="0">
                          <a:solidFill>
                            <a:schemeClr val="tx1"/>
                          </a:solidFill>
                          <a:latin typeface="Times New Roman" panose="02020603050405020304" pitchFamily="18" charset="0"/>
                          <a:cs typeface="Times New Roman" panose="02020603050405020304" pitchFamily="18" charset="0"/>
                        </a:rPr>
                        <a:t>Company Name</a:t>
                      </a:r>
                    </a:p>
                  </a:txBody>
                  <a:tcPr anchor="ctr"/>
                </a:tc>
                <a:tc>
                  <a:txBody>
                    <a:bodyPr/>
                    <a:lstStyle/>
                    <a:p>
                      <a:pPr algn="ctr"/>
                      <a:r>
                        <a:rPr lang="en-IN" sz="1200" dirty="0">
                          <a:solidFill>
                            <a:schemeClr val="tx1"/>
                          </a:solidFill>
                          <a:latin typeface="Times New Roman" panose="02020603050405020304" pitchFamily="18" charset="0"/>
                          <a:cs typeface="Times New Roman" panose="02020603050405020304" pitchFamily="18" charset="0"/>
                        </a:rPr>
                        <a:t>Quantity Purchased</a:t>
                      </a:r>
                    </a:p>
                  </a:txBody>
                  <a:tcPr anchor="ctr"/>
                </a:tc>
                <a:tc>
                  <a:txBody>
                    <a:bodyPr/>
                    <a:lstStyle/>
                    <a:p>
                      <a:pPr algn="ctr"/>
                      <a:r>
                        <a:rPr lang="en-IN" sz="1200" dirty="0">
                          <a:solidFill>
                            <a:schemeClr val="tx1"/>
                          </a:solidFill>
                          <a:latin typeface="Times New Roman" panose="02020603050405020304" pitchFamily="18" charset="0"/>
                          <a:cs typeface="Times New Roman" panose="02020603050405020304" pitchFamily="18" charset="0"/>
                        </a:rPr>
                        <a:t>Purchase Price</a:t>
                      </a:r>
                    </a:p>
                    <a:p>
                      <a:pPr algn="ctr"/>
                      <a:r>
                        <a:rPr lang="en-IN" sz="1200" dirty="0">
                          <a:solidFill>
                            <a:schemeClr val="tx1"/>
                          </a:solidFill>
                          <a:latin typeface="Times New Roman" panose="02020603050405020304" pitchFamily="18" charset="0"/>
                          <a:cs typeface="Times New Roman" panose="02020603050405020304" pitchFamily="18" charset="0"/>
                        </a:rPr>
                        <a:t>(3rd August, ₹)</a:t>
                      </a:r>
                    </a:p>
                  </a:txBody>
                  <a:tcPr anchor="ctr"/>
                </a:tc>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Amount Invested</a:t>
                      </a:r>
                      <a:r>
                        <a:rPr lang="en-IN" sz="12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3833111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solidFill>
                            <a:srgbClr val="7030A0"/>
                          </a:solidFill>
                          <a:latin typeface="Times New Roman" panose="02020603050405020304" pitchFamily="18" charset="0"/>
                          <a:cs typeface="Times New Roman" panose="02020603050405020304" pitchFamily="18" charset="0"/>
                        </a:rPr>
                        <a:t>Ashok Leyland</a:t>
                      </a:r>
                    </a:p>
                  </a:txBody>
                  <a:tcPr/>
                </a:tc>
                <a:tc>
                  <a:txBody>
                    <a:bodyPr/>
                    <a:lstStyle/>
                    <a:p>
                      <a:pPr algn="ctr"/>
                      <a:r>
                        <a:rPr lang="en-US" sz="1200" dirty="0">
                          <a:solidFill>
                            <a:srgbClr val="7030A0"/>
                          </a:solidFill>
                          <a:latin typeface="Times New Roman" panose="02020603050405020304" pitchFamily="18" charset="0"/>
                          <a:cs typeface="Times New Roman" panose="02020603050405020304" pitchFamily="18" charset="0"/>
                        </a:rPr>
                        <a:t>151</a:t>
                      </a:r>
                      <a:endParaRPr lang="en-IN" sz="1200" dirty="0">
                        <a:solidFill>
                          <a:srgbClr val="7030A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7030A0"/>
                          </a:solidFill>
                          <a:latin typeface="Times New Roman" panose="02020603050405020304" pitchFamily="18" charset="0"/>
                          <a:cs typeface="Times New Roman" panose="02020603050405020304" pitchFamily="18" charset="0"/>
                        </a:rPr>
                        <a:t>171.72</a:t>
                      </a:r>
                      <a:endParaRPr lang="en-IN" sz="1200" dirty="0">
                        <a:solidFill>
                          <a:srgbClr val="7030A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7030A0"/>
                          </a:solidFill>
                          <a:latin typeface="Times New Roman" panose="02020603050405020304" pitchFamily="18" charset="0"/>
                          <a:cs typeface="Times New Roman" panose="02020603050405020304" pitchFamily="18" charset="0"/>
                        </a:rPr>
                        <a:t>25929.72</a:t>
                      </a:r>
                      <a:endParaRPr lang="en-IN" sz="1200" dirty="0">
                        <a:solidFill>
                          <a:srgbClr val="7030A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0338604"/>
                  </a:ext>
                </a:extLst>
              </a:tr>
              <a:tr h="22587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imes New Roman" panose="02020603050405020304" pitchFamily="18" charset="0"/>
                          <a:cs typeface="Times New Roman" panose="02020603050405020304" pitchFamily="18" charset="0"/>
                        </a:rPr>
                        <a:t>Eternal</a:t>
                      </a:r>
                    </a:p>
                  </a:txBody>
                  <a:tcPr/>
                </a:tc>
                <a:tc>
                  <a:txBody>
                    <a:bodyPr/>
                    <a:lstStyle/>
                    <a:p>
                      <a:pPr algn="ctr"/>
                      <a:r>
                        <a:rPr lang="en-US" sz="1200" dirty="0">
                          <a:solidFill>
                            <a:srgbClr val="C00000"/>
                          </a:solidFill>
                          <a:latin typeface="Times New Roman" panose="02020603050405020304" pitchFamily="18" charset="0"/>
                          <a:cs typeface="Times New Roman" panose="02020603050405020304" pitchFamily="18" charset="0"/>
                        </a:rPr>
                        <a:t>76</a:t>
                      </a:r>
                      <a:endParaRPr lang="en-IN" sz="1200" dirty="0">
                        <a:solidFill>
                          <a:srgbClr val="C0000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C00000"/>
                          </a:solidFill>
                          <a:latin typeface="Times New Roman" panose="02020603050405020304" pitchFamily="18" charset="0"/>
                          <a:cs typeface="Times New Roman" panose="02020603050405020304" pitchFamily="18" charset="0"/>
                        </a:rPr>
                        <a:t>305.00</a:t>
                      </a:r>
                      <a:endParaRPr lang="en-IN" sz="1200" dirty="0">
                        <a:solidFill>
                          <a:srgbClr val="C00000"/>
                        </a:solidFill>
                        <a:latin typeface="Times New Roman" panose="02020603050405020304" pitchFamily="18" charset="0"/>
                        <a:cs typeface="Times New Roman" panose="02020603050405020304" pitchFamily="18" charset="0"/>
                      </a:endParaRPr>
                    </a:p>
                  </a:txBody>
                  <a:tcPr/>
                </a:tc>
                <a:tc>
                  <a:txBody>
                    <a:bodyPr/>
                    <a:lstStyle/>
                    <a:p>
                      <a:pPr algn="ctr"/>
                      <a:r>
                        <a:rPr lang="en-US" sz="1200" dirty="0">
                          <a:solidFill>
                            <a:srgbClr val="C00000"/>
                          </a:solidFill>
                          <a:latin typeface="Times New Roman" panose="02020603050405020304" pitchFamily="18" charset="0"/>
                          <a:cs typeface="Times New Roman" panose="02020603050405020304" pitchFamily="18" charset="0"/>
                        </a:rPr>
                        <a:t>23,180.00</a:t>
                      </a:r>
                      <a:endParaRPr lang="en-IN" sz="1200" dirty="0">
                        <a:solidFill>
                          <a:srgbClr val="C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05148038"/>
                  </a:ext>
                </a:extLst>
              </a:tr>
            </a:tbl>
          </a:graphicData>
        </a:graphic>
      </p:graphicFrame>
      <p:cxnSp>
        <p:nvCxnSpPr>
          <p:cNvPr id="45" name="Straight Connector 44">
            <a:extLst>
              <a:ext uri="{FF2B5EF4-FFF2-40B4-BE49-F238E27FC236}">
                <a16:creationId xmlns:a16="http://schemas.microsoft.com/office/drawing/2014/main" id="{67EB5C69-9F58-3B54-9AF4-20EA8A55DE37}"/>
              </a:ext>
            </a:extLst>
          </p:cNvPr>
          <p:cNvCxnSpPr>
            <a:stCxn id="5" idx="3"/>
          </p:cNvCxnSpPr>
          <p:nvPr/>
        </p:nvCxnSpPr>
        <p:spPr>
          <a:xfrm flipH="1">
            <a:off x="4445644" y="1277613"/>
            <a:ext cx="1" cy="2179375"/>
          </a:xfrm>
          <a:prstGeom prst="line">
            <a:avLst/>
          </a:prstGeom>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37A8355-3ADF-D75A-0953-A68D5BB0E650}"/>
              </a:ext>
            </a:extLst>
          </p:cNvPr>
          <p:cNvPicPr>
            <a:picLocks noChangeAspect="1"/>
          </p:cNvPicPr>
          <p:nvPr/>
        </p:nvPicPr>
        <p:blipFill>
          <a:blip r:embed="rId2"/>
          <a:stretch>
            <a:fillRect/>
          </a:stretch>
        </p:blipFill>
        <p:spPr>
          <a:xfrm>
            <a:off x="2430" y="0"/>
            <a:ext cx="9139141" cy="5143500"/>
          </a:xfrm>
          <a:prstGeom prst="rect">
            <a:avLst/>
          </a:prstGeom>
        </p:spPr>
      </p:pic>
    </p:spTree>
    <p:extLst>
      <p:ext uri="{BB962C8B-B14F-4D97-AF65-F5344CB8AC3E}">
        <p14:creationId xmlns:p14="http://schemas.microsoft.com/office/powerpoint/2010/main" val="408762764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20551"/>
            <a:ext cx="8151763" cy="334268"/>
          </a:xfrm>
          <a:prstGeom prst="rect">
            <a:avLst/>
          </a:prstGeom>
          <a:noFill/>
          <a:ln/>
        </p:spPr>
        <p:txBody>
          <a:bodyPr wrap="none" lIns="0" tIns="0" rIns="0" bIns="0" rtlCol="0" anchor="t"/>
          <a:lstStyle/>
          <a:p>
            <a:pPr marL="0" indent="0" algn="ctr">
              <a:lnSpc>
                <a:spcPct val="104000"/>
              </a:lnSpc>
              <a:buNone/>
            </a:pPr>
            <a:r>
              <a:rPr lang="en-US" sz="2400" b="1" dirty="0">
                <a:solidFill>
                  <a:srgbClr val="000000"/>
                </a:solidFill>
                <a:latin typeface="Times New Roman" panose="02020603050405020304" pitchFamily="18" charset="0"/>
                <a:ea typeface="Petrona Bold" pitchFamily="34" charset="-122"/>
                <a:cs typeface="Times New Roman" panose="02020603050405020304" pitchFamily="18" charset="0"/>
              </a:rPr>
              <a:t>Portfolio Performance Analysis</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496119" y="643408"/>
            <a:ext cx="8151763" cy="167134"/>
          </a:xfrm>
          <a:prstGeom prst="rect">
            <a:avLst/>
          </a:prstGeom>
          <a:noFill/>
          <a:ln/>
        </p:spPr>
        <p:txBody>
          <a:bodyPr wrap="none" lIns="0" tIns="0" rIns="0" bIns="0" rtlCol="0" anchor="t"/>
          <a:lstStyle/>
          <a:p>
            <a:pPr marL="0" indent="0" algn="ctr">
              <a:lnSpc>
                <a:spcPct val="104000"/>
              </a:lnSpc>
              <a:buNone/>
            </a:pPr>
            <a:r>
              <a:rPr lang="en-US" sz="1100" b="1" dirty="0">
                <a:solidFill>
                  <a:srgbClr val="000000"/>
                </a:solidFill>
                <a:latin typeface="Times New Roman" panose="02020603050405020304" pitchFamily="18" charset="0"/>
                <a:ea typeface="Petrona Bold" pitchFamily="34" charset="-122"/>
                <a:cs typeface="Times New Roman" panose="02020603050405020304" pitchFamily="18" charset="0"/>
              </a:rPr>
              <a:t>An evaluation of portfolio performance based on individual stock returns and overall investment outcomes.</a:t>
            </a:r>
            <a:endParaRPr lang="en-US" sz="1100" dirty="0">
              <a:latin typeface="Times New Roman" panose="02020603050405020304" pitchFamily="18" charset="0"/>
              <a:cs typeface="Times New Roman" panose="02020603050405020304" pitchFamily="18" charset="0"/>
            </a:endParaRPr>
          </a:p>
        </p:txBody>
      </p:sp>
      <p:sp>
        <p:nvSpPr>
          <p:cNvPr id="4" name="Shape 2"/>
          <p:cNvSpPr/>
          <p:nvPr/>
        </p:nvSpPr>
        <p:spPr>
          <a:xfrm>
            <a:off x="496119" y="1100882"/>
            <a:ext cx="8151763" cy="14288"/>
          </a:xfrm>
          <a:prstGeom prst="roundRect">
            <a:avLst>
              <a:gd name="adj" fmla="val 49998"/>
            </a:avLst>
          </a:prstGeom>
          <a:solidFill>
            <a:srgbClr val="272525">
              <a:alpha val="50000"/>
            </a:srgbClr>
          </a:solidFill>
          <a:ln/>
        </p:spPr>
      </p:sp>
      <p:sp>
        <p:nvSpPr>
          <p:cNvPr id="51" name="Text 49"/>
          <p:cNvSpPr/>
          <p:nvPr/>
        </p:nvSpPr>
        <p:spPr>
          <a:xfrm>
            <a:off x="612279" y="4177903"/>
            <a:ext cx="2126828" cy="167134"/>
          </a:xfrm>
          <a:prstGeom prst="rect">
            <a:avLst/>
          </a:prstGeom>
          <a:noFill/>
          <a:ln/>
        </p:spPr>
        <p:txBody>
          <a:bodyPr wrap="none" lIns="0" tIns="0" rIns="0" bIns="0" rtlCol="0" anchor="t"/>
          <a:lstStyle/>
          <a:p>
            <a:pPr marL="0" indent="0" algn="l">
              <a:lnSpc>
                <a:spcPct val="104000"/>
              </a:lnSpc>
              <a:buNone/>
            </a:pPr>
            <a:r>
              <a:rPr lang="en-US" sz="1100" b="1" dirty="0">
                <a:solidFill>
                  <a:srgbClr val="272525"/>
                </a:solidFill>
                <a:latin typeface="Times New Roman" panose="02020603050405020304" pitchFamily="18" charset="0"/>
                <a:ea typeface="Petrona Bold" pitchFamily="34" charset="-122"/>
                <a:cs typeface="Times New Roman" panose="02020603050405020304" pitchFamily="18" charset="0"/>
              </a:rPr>
              <a:t>Overall Portfolio Return</a:t>
            </a:r>
            <a:endParaRPr lang="en-US" sz="1100" dirty="0">
              <a:latin typeface="Times New Roman" panose="02020603050405020304" pitchFamily="18" charset="0"/>
              <a:cs typeface="Times New Roman" panose="02020603050405020304" pitchFamily="18" charset="0"/>
            </a:endParaRPr>
          </a:p>
        </p:txBody>
      </p:sp>
      <p:sp>
        <p:nvSpPr>
          <p:cNvPr id="52" name="Text 50"/>
          <p:cNvSpPr/>
          <p:nvPr/>
        </p:nvSpPr>
        <p:spPr>
          <a:xfrm>
            <a:off x="612279" y="4510013"/>
            <a:ext cx="2126828" cy="461367"/>
          </a:xfrm>
          <a:prstGeom prst="rect">
            <a:avLst/>
          </a:prstGeom>
          <a:noFill/>
          <a:ln/>
        </p:spPr>
        <p:txBody>
          <a:bodyPr wrap="none" lIns="0" tIns="0" rIns="0" bIns="0" rtlCol="0" anchor="t"/>
          <a:lstStyle/>
          <a:p>
            <a:pPr marL="0" indent="0" algn="l">
              <a:lnSpc>
                <a:spcPct val="104000"/>
              </a:lnSpc>
              <a:buNone/>
            </a:pPr>
            <a:r>
              <a:rPr lang="en-US" sz="3200" b="1" dirty="0">
                <a:solidFill>
                  <a:srgbClr val="272525"/>
                </a:solidFill>
                <a:latin typeface="Times New Roman" panose="02020603050405020304" pitchFamily="18" charset="0"/>
                <a:ea typeface="Petrona Bold" pitchFamily="34" charset="-122"/>
                <a:cs typeface="Times New Roman" panose="02020603050405020304" pitchFamily="18" charset="0"/>
              </a:rPr>
              <a:t>2.36%</a:t>
            </a:r>
            <a:endParaRPr lang="en-US" sz="3200" dirty="0">
              <a:latin typeface="Times New Roman" panose="02020603050405020304" pitchFamily="18" charset="0"/>
              <a:cs typeface="Times New Roman" panose="02020603050405020304" pitchFamily="18" charset="0"/>
            </a:endParaRPr>
          </a:p>
        </p:txBody>
      </p:sp>
      <p:sp>
        <p:nvSpPr>
          <p:cNvPr id="54" name="Text 52"/>
          <p:cNvSpPr/>
          <p:nvPr/>
        </p:nvSpPr>
        <p:spPr>
          <a:xfrm>
            <a:off x="3044651" y="4177903"/>
            <a:ext cx="2126903" cy="167134"/>
          </a:xfrm>
          <a:prstGeom prst="rect">
            <a:avLst/>
          </a:prstGeom>
          <a:noFill/>
          <a:ln/>
        </p:spPr>
        <p:txBody>
          <a:bodyPr wrap="none" lIns="0" tIns="0" rIns="0" bIns="0" rtlCol="0" anchor="t"/>
          <a:lstStyle/>
          <a:p>
            <a:pPr marL="0" indent="0" algn="l">
              <a:lnSpc>
                <a:spcPct val="104000"/>
              </a:lnSpc>
              <a:buNone/>
            </a:pPr>
            <a:r>
              <a:rPr lang="en-US" sz="1100" b="1" dirty="0">
                <a:solidFill>
                  <a:srgbClr val="272525"/>
                </a:solidFill>
                <a:latin typeface="Times New Roman" panose="02020603050405020304" pitchFamily="18" charset="0"/>
                <a:ea typeface="Petrona Bold" pitchFamily="34" charset="-122"/>
                <a:cs typeface="Times New Roman" panose="02020603050405020304" pitchFamily="18" charset="0"/>
              </a:rPr>
              <a:t>Total Net Profit</a:t>
            </a:r>
            <a:endParaRPr lang="en-US" sz="1100" dirty="0">
              <a:latin typeface="Times New Roman" panose="02020603050405020304" pitchFamily="18" charset="0"/>
              <a:cs typeface="Times New Roman" panose="02020603050405020304" pitchFamily="18" charset="0"/>
            </a:endParaRPr>
          </a:p>
        </p:txBody>
      </p:sp>
      <p:sp>
        <p:nvSpPr>
          <p:cNvPr id="55" name="Text 53"/>
          <p:cNvSpPr/>
          <p:nvPr/>
        </p:nvSpPr>
        <p:spPr>
          <a:xfrm>
            <a:off x="3044650" y="4477866"/>
            <a:ext cx="2126903" cy="461367"/>
          </a:xfrm>
          <a:prstGeom prst="rect">
            <a:avLst/>
          </a:prstGeom>
          <a:noFill/>
          <a:ln/>
        </p:spPr>
        <p:txBody>
          <a:bodyPr wrap="none" lIns="0" tIns="0" rIns="0" bIns="0" rtlCol="0" anchor="t"/>
          <a:lstStyle/>
          <a:p>
            <a:pPr marL="0" indent="0" algn="l">
              <a:lnSpc>
                <a:spcPct val="104000"/>
              </a:lnSpc>
              <a:buNone/>
            </a:pPr>
            <a:r>
              <a:rPr lang="en-US" sz="3200" b="1" dirty="0">
                <a:solidFill>
                  <a:srgbClr val="272525"/>
                </a:solidFill>
                <a:latin typeface="Times New Roman" panose="02020603050405020304" pitchFamily="18" charset="0"/>
                <a:ea typeface="Petrona Bold" pitchFamily="34" charset="-122"/>
                <a:cs typeface="Times New Roman" panose="02020603050405020304" pitchFamily="18" charset="0"/>
              </a:rPr>
              <a:t>₹23,566.26</a:t>
            </a:r>
            <a:endParaRPr lang="en-US" sz="3200" dirty="0">
              <a:latin typeface="Times New Roman" panose="02020603050405020304" pitchFamily="18" charset="0"/>
              <a:cs typeface="Times New Roman" panose="02020603050405020304" pitchFamily="18" charset="0"/>
            </a:endParaRPr>
          </a:p>
        </p:txBody>
      </p:sp>
      <p:graphicFrame>
        <p:nvGraphicFramePr>
          <p:cNvPr id="69" name="Table 68">
            <a:extLst>
              <a:ext uri="{FF2B5EF4-FFF2-40B4-BE49-F238E27FC236}">
                <a16:creationId xmlns:a16="http://schemas.microsoft.com/office/drawing/2014/main" id="{98B03D0D-E6AF-A223-11FC-1AD1EBD1F6FC}"/>
              </a:ext>
            </a:extLst>
          </p:cNvPr>
          <p:cNvGraphicFramePr>
            <a:graphicFrameLocks noGrp="1"/>
          </p:cNvGraphicFramePr>
          <p:nvPr>
            <p:extLst>
              <p:ext uri="{D42A27DB-BD31-4B8C-83A1-F6EECF244321}">
                <p14:modId xmlns:p14="http://schemas.microsoft.com/office/powerpoint/2010/main" val="2384045223"/>
              </p:ext>
            </p:extLst>
          </p:nvPr>
        </p:nvGraphicFramePr>
        <p:xfrm>
          <a:off x="589050" y="1280146"/>
          <a:ext cx="7886700" cy="2563382"/>
        </p:xfrm>
        <a:graphic>
          <a:graphicData uri="http://schemas.openxmlformats.org/drawingml/2006/table">
            <a:tbl>
              <a:tblPr>
                <a:tableStyleId>{F2DE63D5-997A-4646-A377-4702673A728D}</a:tableStyleId>
              </a:tblPr>
              <a:tblGrid>
                <a:gridCol w="1971675">
                  <a:extLst>
                    <a:ext uri="{9D8B030D-6E8A-4147-A177-3AD203B41FA5}">
                      <a16:colId xmlns:a16="http://schemas.microsoft.com/office/drawing/2014/main" val="377328660"/>
                    </a:ext>
                  </a:extLst>
                </a:gridCol>
                <a:gridCol w="1971675">
                  <a:extLst>
                    <a:ext uri="{9D8B030D-6E8A-4147-A177-3AD203B41FA5}">
                      <a16:colId xmlns:a16="http://schemas.microsoft.com/office/drawing/2014/main" val="3942420491"/>
                    </a:ext>
                  </a:extLst>
                </a:gridCol>
                <a:gridCol w="1971675">
                  <a:extLst>
                    <a:ext uri="{9D8B030D-6E8A-4147-A177-3AD203B41FA5}">
                      <a16:colId xmlns:a16="http://schemas.microsoft.com/office/drawing/2014/main" val="3284049318"/>
                    </a:ext>
                  </a:extLst>
                </a:gridCol>
                <a:gridCol w="1971675">
                  <a:extLst>
                    <a:ext uri="{9D8B030D-6E8A-4147-A177-3AD203B41FA5}">
                      <a16:colId xmlns:a16="http://schemas.microsoft.com/office/drawing/2014/main" val="77044205"/>
                    </a:ext>
                  </a:extLst>
                </a:gridCol>
              </a:tblGrid>
              <a:tr h="445022">
                <a:tc>
                  <a:txBody>
                    <a:bodyPr/>
                    <a:lstStyle/>
                    <a:p>
                      <a:pPr algn="ctr">
                        <a:buNone/>
                      </a:pPr>
                      <a:r>
                        <a:rPr lang="en-IN" sz="1600" b="1" dirty="0">
                          <a:latin typeface="Times New Roman" panose="02020603050405020304" pitchFamily="18" charset="0"/>
                          <a:cs typeface="Times New Roman" panose="02020603050405020304" pitchFamily="18" charset="0"/>
                        </a:rPr>
                        <a:t>Company</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Return (%)</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Net Profit (₹)</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latin typeface="Times New Roman" panose="02020603050405020304" pitchFamily="18" charset="0"/>
                          <a:cs typeface="Times New Roman" panose="02020603050405020304" pitchFamily="18" charset="0"/>
                        </a:rPr>
                        <a:t>Performance</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88930605"/>
                  </a:ext>
                </a:extLst>
              </a:tr>
              <a:tr h="0">
                <a:tc>
                  <a:txBody>
                    <a:bodyPr/>
                    <a:lstStyle/>
                    <a:p>
                      <a:pPr algn="ctr">
                        <a:buNone/>
                      </a:pPr>
                      <a:r>
                        <a:rPr lang="en-IN" sz="1600" b="1" dirty="0">
                          <a:solidFill>
                            <a:srgbClr val="CC0066"/>
                          </a:solidFill>
                          <a:latin typeface="Times New Roman" panose="02020603050405020304" pitchFamily="18" charset="0"/>
                          <a:cs typeface="Times New Roman" panose="02020603050405020304" pitchFamily="18" charset="0"/>
                        </a:rPr>
                        <a:t>🥇 Siemens</a:t>
                      </a:r>
                    </a:p>
                  </a:txBody>
                  <a:tcPr anchor="ctr"/>
                </a:tc>
                <a:tc>
                  <a:txBody>
                    <a:bodyPr/>
                    <a:lstStyle/>
                    <a:p>
                      <a:pPr algn="ctr">
                        <a:buNone/>
                      </a:pPr>
                      <a:r>
                        <a:rPr lang="en-IN" sz="1600" b="1" dirty="0">
                          <a:solidFill>
                            <a:srgbClr val="CC0066"/>
                          </a:solidFill>
                          <a:latin typeface="Times New Roman" panose="02020603050405020304" pitchFamily="18" charset="0"/>
                          <a:cs typeface="Times New Roman" panose="02020603050405020304" pitchFamily="18" charset="0"/>
                        </a:rPr>
                        <a:t>7.12%</a:t>
                      </a:r>
                    </a:p>
                  </a:txBody>
                  <a:tcPr anchor="ctr"/>
                </a:tc>
                <a:tc>
                  <a:txBody>
                    <a:bodyPr/>
                    <a:lstStyle/>
                    <a:p>
                      <a:pPr algn="ctr">
                        <a:buNone/>
                      </a:pPr>
                      <a:r>
                        <a:rPr lang="en-IN" sz="1600" b="1" dirty="0">
                          <a:solidFill>
                            <a:srgbClr val="CC0066"/>
                          </a:solidFill>
                          <a:latin typeface="Times New Roman" panose="02020603050405020304" pitchFamily="18" charset="0"/>
                          <a:cs typeface="Times New Roman" panose="02020603050405020304" pitchFamily="18" charset="0"/>
                        </a:rPr>
                        <a:t>8,774.70</a:t>
                      </a:r>
                    </a:p>
                  </a:txBody>
                  <a:tcPr anchor="ctr"/>
                </a:tc>
                <a:tc>
                  <a:txBody>
                    <a:bodyPr/>
                    <a:lstStyle/>
                    <a:p>
                      <a:pPr algn="ctr">
                        <a:buNone/>
                      </a:pPr>
                      <a:r>
                        <a:rPr lang="en-IN" sz="1600" b="1" dirty="0">
                          <a:solidFill>
                            <a:srgbClr val="CC0066"/>
                          </a:solidFill>
                          <a:latin typeface="Times New Roman" panose="02020603050405020304" pitchFamily="18" charset="0"/>
                          <a:cs typeface="Times New Roman" panose="02020603050405020304" pitchFamily="18" charset="0"/>
                        </a:rPr>
                        <a:t>⭐ Best Performer</a:t>
                      </a:r>
                    </a:p>
                  </a:txBody>
                  <a:tcPr anchor="ctr"/>
                </a:tc>
                <a:extLst>
                  <a:ext uri="{0D108BD9-81ED-4DB2-BD59-A6C34878D82A}">
                    <a16:rowId xmlns:a16="http://schemas.microsoft.com/office/drawing/2014/main" val="664089468"/>
                  </a:ext>
                </a:extLst>
              </a:tr>
              <a:tr h="0">
                <a:tc>
                  <a:txBody>
                    <a:bodyPr/>
                    <a:lstStyle/>
                    <a:p>
                      <a:pPr algn="ctr">
                        <a:buNone/>
                      </a:pPr>
                      <a:r>
                        <a:rPr lang="en-IN" dirty="0">
                          <a:latin typeface="Times New Roman" panose="02020603050405020304" pitchFamily="18" charset="0"/>
                          <a:cs typeface="Times New Roman" panose="02020603050405020304" pitchFamily="18" charset="0"/>
                        </a:rPr>
                        <a:t>Bajaj FinServ</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2.81%</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5,644.80</a:t>
                      </a:r>
                    </a:p>
                  </a:txBody>
                  <a:tcPr anchor="ctr"/>
                </a:tc>
                <a:tc>
                  <a:txBody>
                    <a:bodyPr/>
                    <a:lstStyle/>
                    <a:p>
                      <a:pPr algn="ctr">
                        <a:buNone/>
                      </a:pPr>
                      <a:r>
                        <a:rPr lang="en-IN" dirty="0">
                          <a:solidFill>
                            <a:srgbClr val="00B050"/>
                          </a:solidFill>
                          <a:latin typeface="Times New Roman" panose="02020603050405020304" pitchFamily="18" charset="0"/>
                          <a:cs typeface="Times New Roman" panose="02020603050405020304" pitchFamily="18" charset="0"/>
                        </a:rPr>
                        <a:t>Strong</a:t>
                      </a:r>
                    </a:p>
                  </a:txBody>
                  <a:tcPr anchor="ctr"/>
                </a:tc>
                <a:extLst>
                  <a:ext uri="{0D108BD9-81ED-4DB2-BD59-A6C34878D82A}">
                    <a16:rowId xmlns:a16="http://schemas.microsoft.com/office/drawing/2014/main" val="4083033736"/>
                  </a:ext>
                </a:extLst>
              </a:tr>
              <a:tr h="0">
                <a:tc>
                  <a:txBody>
                    <a:bodyPr/>
                    <a:lstStyle/>
                    <a:p>
                      <a:pPr algn="ctr">
                        <a:buNone/>
                      </a:pPr>
                      <a:r>
                        <a:rPr lang="en-IN">
                          <a:latin typeface="Times New Roman" panose="02020603050405020304" pitchFamily="18" charset="0"/>
                          <a:cs typeface="Times New Roman" panose="02020603050405020304" pitchFamily="18" charset="0"/>
                        </a:rPr>
                        <a:t>Eternal</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2.43%</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562.40</a:t>
                      </a:r>
                    </a:p>
                  </a:txBody>
                  <a:tcPr anchor="ctr"/>
                </a:tc>
                <a:tc>
                  <a:txBody>
                    <a:bodyPr/>
                    <a:lstStyle/>
                    <a:p>
                      <a:pPr algn="ctr">
                        <a:buNone/>
                      </a:pPr>
                      <a:r>
                        <a:rPr lang="en-IN" dirty="0">
                          <a:solidFill>
                            <a:schemeClr val="accent4">
                              <a:lumMod val="50000"/>
                            </a:schemeClr>
                          </a:solidFill>
                          <a:latin typeface="Times New Roman" panose="02020603050405020304" pitchFamily="18" charset="0"/>
                          <a:cs typeface="Times New Roman" panose="02020603050405020304" pitchFamily="18" charset="0"/>
                        </a:rPr>
                        <a:t>Good</a:t>
                      </a:r>
                    </a:p>
                  </a:txBody>
                  <a:tcPr anchor="ctr"/>
                </a:tc>
                <a:extLst>
                  <a:ext uri="{0D108BD9-81ED-4DB2-BD59-A6C34878D82A}">
                    <a16:rowId xmlns:a16="http://schemas.microsoft.com/office/drawing/2014/main" val="3957163401"/>
                  </a:ext>
                </a:extLst>
              </a:tr>
              <a:tr h="0">
                <a:tc>
                  <a:txBody>
                    <a:bodyPr/>
                    <a:lstStyle/>
                    <a:p>
                      <a:pPr algn="ctr">
                        <a:buNone/>
                      </a:pPr>
                      <a:r>
                        <a:rPr lang="en-IN" dirty="0">
                          <a:latin typeface="Times New Roman" panose="02020603050405020304" pitchFamily="18" charset="0"/>
                          <a:cs typeface="Times New Roman" panose="02020603050405020304" pitchFamily="18" charset="0"/>
                        </a:rPr>
                        <a:t>Divi's Laboratories</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2.39%</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7,820.00</a:t>
                      </a:r>
                    </a:p>
                  </a:txBody>
                  <a:tcPr anchor="ctr"/>
                </a:tc>
                <a:tc>
                  <a:txBody>
                    <a:bodyPr/>
                    <a:lstStyle/>
                    <a:p>
                      <a:pPr algn="ctr">
                        <a:buNone/>
                      </a:pPr>
                      <a:r>
                        <a:rPr lang="en-IN" dirty="0">
                          <a:solidFill>
                            <a:srgbClr val="00B050"/>
                          </a:solidFill>
                          <a:latin typeface="Times New Roman" panose="02020603050405020304" pitchFamily="18" charset="0"/>
                          <a:cs typeface="Times New Roman" panose="02020603050405020304" pitchFamily="18" charset="0"/>
                        </a:rPr>
                        <a:t>Strong</a:t>
                      </a:r>
                    </a:p>
                  </a:txBody>
                  <a:tcPr anchor="ctr"/>
                </a:tc>
                <a:extLst>
                  <a:ext uri="{0D108BD9-81ED-4DB2-BD59-A6C34878D82A}">
                    <a16:rowId xmlns:a16="http://schemas.microsoft.com/office/drawing/2014/main" val="877497977"/>
                  </a:ext>
                </a:extLst>
              </a:tr>
              <a:tr h="0">
                <a:tc>
                  <a:txBody>
                    <a:bodyPr/>
                    <a:lstStyle/>
                    <a:p>
                      <a:pPr algn="ctr">
                        <a:buNone/>
                      </a:pPr>
                      <a:r>
                        <a:rPr lang="en-IN" dirty="0">
                          <a:latin typeface="Times New Roman" panose="02020603050405020304" pitchFamily="18" charset="0"/>
                          <a:cs typeface="Times New Roman" panose="02020603050405020304" pitchFamily="18" charset="0"/>
                        </a:rPr>
                        <a:t>Larsen &amp; Toubro</a:t>
                      </a:r>
                    </a:p>
                  </a:txBody>
                  <a:tcPr anchor="ctr"/>
                </a:tc>
                <a:tc>
                  <a:txBody>
                    <a:bodyPr/>
                    <a:lstStyle/>
                    <a:p>
                      <a:pPr algn="ctr">
                        <a:buNone/>
                      </a:pPr>
                      <a:r>
                        <a:rPr lang="en-IN">
                          <a:latin typeface="Times New Roman" panose="02020603050405020304" pitchFamily="18" charset="0"/>
                          <a:cs typeface="Times New Roman" panose="02020603050405020304" pitchFamily="18" charset="0"/>
                        </a:rPr>
                        <a:t>0.25%</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350.00</a:t>
                      </a:r>
                    </a:p>
                  </a:txBody>
                  <a:tcPr anchor="ctr"/>
                </a:tc>
                <a:tc>
                  <a:txBody>
                    <a:bodyPr/>
                    <a:lstStyle/>
                    <a:p>
                      <a:pPr algn="ctr">
                        <a:buNone/>
                      </a:pPr>
                      <a:r>
                        <a:rPr lang="en-IN" dirty="0">
                          <a:solidFill>
                            <a:srgbClr val="7030A0"/>
                          </a:solidFill>
                          <a:latin typeface="Times New Roman" panose="02020603050405020304" pitchFamily="18" charset="0"/>
                          <a:cs typeface="Times New Roman" panose="02020603050405020304" pitchFamily="18" charset="0"/>
                        </a:rPr>
                        <a:t>Stable</a:t>
                      </a:r>
                    </a:p>
                  </a:txBody>
                  <a:tcPr anchor="ctr"/>
                </a:tc>
                <a:extLst>
                  <a:ext uri="{0D108BD9-81ED-4DB2-BD59-A6C34878D82A}">
                    <a16:rowId xmlns:a16="http://schemas.microsoft.com/office/drawing/2014/main" val="3813501991"/>
                  </a:ext>
                </a:extLst>
              </a:tr>
              <a:tr h="0">
                <a:tc>
                  <a:txBody>
                    <a:bodyPr/>
                    <a:lstStyle/>
                    <a:p>
                      <a:pPr algn="ctr">
                        <a:buNone/>
                      </a:pPr>
                      <a:r>
                        <a:rPr lang="en-IN">
                          <a:latin typeface="Times New Roman" panose="02020603050405020304" pitchFamily="18" charset="0"/>
                          <a:cs typeface="Times New Roman" panose="02020603050405020304" pitchFamily="18" charset="0"/>
                        </a:rPr>
                        <a:t>InterGlobe Aviation</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0.22%</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360.00</a:t>
                      </a:r>
                    </a:p>
                  </a:txBody>
                  <a:tcPr anchor="ctr"/>
                </a:tc>
                <a:tc>
                  <a:txBody>
                    <a:bodyPr/>
                    <a:lstStyle/>
                    <a:p>
                      <a:pPr algn="ctr">
                        <a:buNone/>
                      </a:pPr>
                      <a:r>
                        <a:rPr lang="en-IN" dirty="0">
                          <a:solidFill>
                            <a:srgbClr val="7030A0"/>
                          </a:solidFill>
                          <a:latin typeface="Times New Roman" panose="02020603050405020304" pitchFamily="18" charset="0"/>
                          <a:cs typeface="Times New Roman" panose="02020603050405020304" pitchFamily="18" charset="0"/>
                        </a:rPr>
                        <a:t>Stable</a:t>
                      </a:r>
                    </a:p>
                  </a:txBody>
                  <a:tcPr anchor="ctr"/>
                </a:tc>
                <a:extLst>
                  <a:ext uri="{0D108BD9-81ED-4DB2-BD59-A6C34878D82A}">
                    <a16:rowId xmlns:a16="http://schemas.microsoft.com/office/drawing/2014/main" val="782629397"/>
                  </a:ext>
                </a:extLst>
              </a:tr>
              <a:tr h="0">
                <a:tc>
                  <a:txBody>
                    <a:bodyPr/>
                    <a:lstStyle/>
                    <a:p>
                      <a:pPr algn="ctr">
                        <a:buNone/>
                      </a:pPr>
                      <a:r>
                        <a:rPr lang="en-IN">
                          <a:latin typeface="Times New Roman" panose="02020603050405020304" pitchFamily="18" charset="0"/>
                          <a:cs typeface="Times New Roman" panose="02020603050405020304" pitchFamily="18" charset="0"/>
                        </a:rPr>
                        <a:t>Ashok Leyland</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0.21%</a:t>
                      </a: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54.36</a:t>
                      </a:r>
                    </a:p>
                  </a:txBody>
                  <a:tcPr anchor="ctr"/>
                </a:tc>
                <a:tc>
                  <a:txBody>
                    <a:bodyPr/>
                    <a:lstStyle/>
                    <a:p>
                      <a:pPr algn="ctr">
                        <a:buNone/>
                      </a:pPr>
                      <a:r>
                        <a:rPr lang="en-IN" dirty="0">
                          <a:solidFill>
                            <a:srgbClr val="7030A0"/>
                          </a:solidFill>
                          <a:latin typeface="Times New Roman" panose="02020603050405020304" pitchFamily="18" charset="0"/>
                          <a:cs typeface="Times New Roman" panose="02020603050405020304" pitchFamily="18" charset="0"/>
                        </a:rPr>
                        <a:t>Stable</a:t>
                      </a:r>
                    </a:p>
                  </a:txBody>
                  <a:tcPr anchor="ctr"/>
                </a:tc>
                <a:extLst>
                  <a:ext uri="{0D108BD9-81ED-4DB2-BD59-A6C34878D82A}">
                    <a16:rowId xmlns:a16="http://schemas.microsoft.com/office/drawing/2014/main" val="117033773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4" grpId="0" animBg="1"/>
      <p:bldP spid="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273810"/>
            <a:ext cx="8151763" cy="363364"/>
          </a:xfrm>
          <a:prstGeom prst="rect">
            <a:avLst/>
          </a:prstGeom>
          <a:noFill/>
          <a:ln/>
        </p:spPr>
        <p:txBody>
          <a:bodyPr wrap="none" lIns="0" tIns="0" rIns="0" bIns="0" rtlCol="0" anchor="t"/>
          <a:lstStyle/>
          <a:p>
            <a:pPr marL="0" indent="0" algn="ctr">
              <a:lnSpc>
                <a:spcPct val="104000"/>
              </a:lnSpc>
              <a:buNone/>
            </a:pPr>
            <a:r>
              <a:rPr lang="en-US" sz="2400" b="1" dirty="0">
                <a:solidFill>
                  <a:srgbClr val="000000"/>
                </a:solidFill>
                <a:latin typeface="Times New Roman" panose="02020603050405020304" pitchFamily="18" charset="0"/>
                <a:ea typeface="Petrona Bold" pitchFamily="34" charset="-122"/>
                <a:cs typeface="Times New Roman" panose="02020603050405020304" pitchFamily="18" charset="0"/>
              </a:rPr>
              <a:t>Hindsight Analysis: What We'd Do Differently</a:t>
            </a:r>
            <a:endParaRPr lang="en-US" sz="2400" dirty="0">
              <a:latin typeface="Times New Roman" panose="02020603050405020304" pitchFamily="18" charset="0"/>
              <a:cs typeface="Times New Roman" panose="02020603050405020304" pitchFamily="18" charset="0"/>
            </a:endParaRPr>
          </a:p>
        </p:txBody>
      </p:sp>
      <p:sp>
        <p:nvSpPr>
          <p:cNvPr id="3" name="Text 1"/>
          <p:cNvSpPr/>
          <p:nvPr/>
        </p:nvSpPr>
        <p:spPr>
          <a:xfrm>
            <a:off x="496119" y="823466"/>
            <a:ext cx="8151763" cy="181645"/>
          </a:xfrm>
          <a:prstGeom prst="rect">
            <a:avLst/>
          </a:prstGeom>
          <a:noFill/>
          <a:ln/>
        </p:spPr>
        <p:txBody>
          <a:bodyPr wrap="none" lIns="0" tIns="0" rIns="0" bIns="0" rtlCol="0" anchor="t"/>
          <a:lstStyle/>
          <a:p>
            <a:pPr marL="0" indent="0" algn="ctr">
              <a:lnSpc>
                <a:spcPct val="104000"/>
              </a:lnSpc>
              <a:buNone/>
            </a:pPr>
            <a:r>
              <a:rPr lang="en-US" sz="1200" b="1" dirty="0">
                <a:solidFill>
                  <a:srgbClr val="000000"/>
                </a:solidFill>
                <a:latin typeface="Times New Roman" panose="02020603050405020304" pitchFamily="18" charset="0"/>
                <a:ea typeface="Petrona Bold" pitchFamily="34" charset="-122"/>
                <a:cs typeface="Times New Roman" panose="02020603050405020304" pitchFamily="18" charset="0"/>
              </a:rPr>
              <a:t>Reflecting on our investment decisions after evaluating the portfolio's actual performance.</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496119" y="1162571"/>
            <a:ext cx="8151763" cy="14288"/>
          </a:xfrm>
          <a:prstGeom prst="roundRect">
            <a:avLst>
              <a:gd name="adj" fmla="val 49998"/>
            </a:avLst>
          </a:prstGeom>
          <a:solidFill>
            <a:srgbClr val="272525">
              <a:alpha val="50000"/>
            </a:srgbClr>
          </a:solidFill>
          <a:ln/>
        </p:spPr>
      </p:sp>
      <p:sp>
        <p:nvSpPr>
          <p:cNvPr id="5" name="Shape 3"/>
          <p:cNvSpPr/>
          <p:nvPr/>
        </p:nvSpPr>
        <p:spPr>
          <a:xfrm>
            <a:off x="416421" y="1301874"/>
            <a:ext cx="4100215" cy="3513527"/>
          </a:xfrm>
          <a:prstGeom prst="roundRect">
            <a:avLst>
              <a:gd name="adj" fmla="val 3170"/>
            </a:avLst>
          </a:prstGeom>
          <a:solidFill>
            <a:schemeClr val="bg2">
              <a:alpha val="95000"/>
            </a:schemeClr>
          </a:solidFill>
          <a:ln/>
        </p:spPr>
      </p:sp>
      <p:sp>
        <p:nvSpPr>
          <p:cNvPr id="6" name="Text 4"/>
          <p:cNvSpPr/>
          <p:nvPr/>
        </p:nvSpPr>
        <p:spPr>
          <a:xfrm>
            <a:off x="527149" y="1388343"/>
            <a:ext cx="3878759" cy="218033"/>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What Worked Well</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527149" y="1692846"/>
            <a:ext cx="3878759" cy="2938360"/>
          </a:xfrm>
          <a:prstGeom prst="rect">
            <a:avLst/>
          </a:prstGeom>
          <a:noFill/>
          <a:ln/>
        </p:spPr>
        <p:txBody>
          <a:bodyPr wrap="square" lIns="0" tIns="0" rIns="0" bIns="0" rtlCol="0" anchor="t">
            <a:noAutofit/>
          </a:bodyPr>
          <a:lstStyle/>
          <a:p>
            <a:pPr marL="171450" lvl="0" indent="-171450">
              <a:lnSpc>
                <a:spcPct val="150000"/>
              </a:lnSpc>
              <a:buFont typeface="Wingdings" panose="05000000000000000000" pitchFamily="2" charset="2"/>
              <a:buChar char="ü"/>
            </a:pPr>
            <a:r>
              <a:rPr lang="en-IN" sz="1200" b="1" dirty="0">
                <a:solidFill>
                  <a:srgbClr val="CC0066"/>
                </a:solidFill>
                <a:latin typeface="Times New Roman" panose="02020603050405020304" pitchFamily="18" charset="0"/>
                <a:cs typeface="Times New Roman" panose="02020603050405020304" pitchFamily="18" charset="0"/>
              </a:rPr>
              <a:t>Diversified Portfolio: </a:t>
            </a:r>
            <a:r>
              <a:rPr lang="en-IN" sz="1200" dirty="0">
                <a:latin typeface="Times New Roman" panose="02020603050405020304" pitchFamily="18" charset="0"/>
                <a:cs typeface="Times New Roman" panose="02020603050405020304" pitchFamily="18" charset="0"/>
              </a:rPr>
              <a:t>Investments across </a:t>
            </a:r>
            <a:r>
              <a:rPr lang="en-IN" sz="1200" b="1" dirty="0">
                <a:latin typeface="Times New Roman" panose="02020603050405020304" pitchFamily="18" charset="0"/>
                <a:cs typeface="Times New Roman" panose="02020603050405020304" pitchFamily="18" charset="0"/>
              </a:rPr>
              <a:t>7 holdings</a:t>
            </a:r>
            <a:r>
              <a:rPr lang="en-IN" sz="1200" dirty="0">
                <a:latin typeface="Times New Roman" panose="02020603050405020304" pitchFamily="18" charset="0"/>
                <a:cs typeface="Times New Roman" panose="02020603050405020304" pitchFamily="18" charset="0"/>
              </a:rPr>
              <a:t> reduced risk and improved </a:t>
            </a:r>
            <a:r>
              <a:rPr lang="en-IN" sz="1200" b="1" dirty="0">
                <a:latin typeface="Times New Roman" panose="02020603050405020304" pitchFamily="18" charset="0"/>
                <a:cs typeface="Times New Roman" panose="02020603050405020304" pitchFamily="18" charset="0"/>
              </a:rPr>
              <a:t>balance</a:t>
            </a:r>
            <a:r>
              <a:rPr lang="en-IN" sz="1200" dirty="0">
                <a:latin typeface="Times New Roman" panose="02020603050405020304" pitchFamily="18" charset="0"/>
                <a:cs typeface="Times New Roman" panose="02020603050405020304" pitchFamily="18" charset="0"/>
              </a:rPr>
              <a:t>. </a:t>
            </a:r>
          </a:p>
          <a:p>
            <a:pPr marL="171450" lvl="0" indent="-171450">
              <a:lnSpc>
                <a:spcPct val="150000"/>
              </a:lnSpc>
              <a:buFont typeface="Wingdings" panose="05000000000000000000" pitchFamily="2" charset="2"/>
              <a:buChar char="ü"/>
            </a:pPr>
            <a:r>
              <a:rPr lang="en-IN" sz="1200" b="1" dirty="0">
                <a:solidFill>
                  <a:srgbClr val="CC0066"/>
                </a:solidFill>
                <a:latin typeface="Times New Roman" panose="02020603050405020304" pitchFamily="18" charset="0"/>
                <a:cs typeface="Times New Roman" panose="02020603050405020304" pitchFamily="18" charset="0"/>
              </a:rPr>
              <a:t>100% Positive Returns:</a:t>
            </a:r>
            <a:r>
              <a:rPr lang="en-IN" sz="1200" dirty="0">
                <a:solidFill>
                  <a:srgbClr val="CC0066"/>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Every selected stock generated a positive return. </a:t>
            </a:r>
          </a:p>
          <a:p>
            <a:pPr marL="171450" lvl="0" indent="-171450">
              <a:lnSpc>
                <a:spcPct val="150000"/>
              </a:lnSpc>
              <a:buFont typeface="Wingdings" panose="05000000000000000000" pitchFamily="2" charset="2"/>
              <a:buChar char="ü"/>
            </a:pPr>
            <a:r>
              <a:rPr lang="en-IN" sz="1200" b="1" dirty="0">
                <a:solidFill>
                  <a:srgbClr val="CC0066"/>
                </a:solidFill>
                <a:latin typeface="Times New Roman" panose="02020603050405020304" pitchFamily="18" charset="0"/>
                <a:cs typeface="Times New Roman" panose="02020603050405020304" pitchFamily="18" charset="0"/>
              </a:rPr>
              <a:t>Top Performer</a:t>
            </a:r>
            <a:r>
              <a:rPr lang="en-IN" sz="1200" b="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Siemens delivered the highest return (</a:t>
            </a:r>
            <a:r>
              <a:rPr lang="en-IN" sz="1200" b="1" dirty="0">
                <a:latin typeface="Times New Roman" panose="02020603050405020304" pitchFamily="18" charset="0"/>
                <a:cs typeface="Times New Roman" panose="02020603050405020304" pitchFamily="18" charset="0"/>
              </a:rPr>
              <a:t>7.12%</a:t>
            </a:r>
            <a:r>
              <a:rPr lang="en-IN" sz="1200" dirty="0">
                <a:latin typeface="Times New Roman" panose="02020603050405020304" pitchFamily="18" charset="0"/>
                <a:cs typeface="Times New Roman" panose="02020603050405020304" pitchFamily="18" charset="0"/>
              </a:rPr>
              <a:t>) and profit contribution. </a:t>
            </a:r>
          </a:p>
          <a:p>
            <a:pPr marL="171450" lvl="0" indent="-171450">
              <a:lnSpc>
                <a:spcPct val="150000"/>
              </a:lnSpc>
              <a:buFont typeface="Wingdings" panose="05000000000000000000" pitchFamily="2" charset="2"/>
              <a:buChar char="ü"/>
            </a:pPr>
            <a:r>
              <a:rPr lang="en-IN" sz="1200" b="1" dirty="0">
                <a:solidFill>
                  <a:srgbClr val="CC0066"/>
                </a:solidFill>
                <a:latin typeface="Times New Roman" panose="02020603050405020304" pitchFamily="18" charset="0"/>
                <a:cs typeface="Times New Roman" panose="02020603050405020304" pitchFamily="18" charset="0"/>
              </a:rPr>
              <a:t>Strong Performer:</a:t>
            </a:r>
            <a:r>
              <a:rPr lang="en-IN" sz="1200" dirty="0">
                <a:solidFill>
                  <a:srgbClr val="CC0066"/>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Divi's Laboratories produced consistent returns and strong profitability.</a:t>
            </a:r>
          </a:p>
        </p:txBody>
      </p:sp>
      <p:sp>
        <p:nvSpPr>
          <p:cNvPr id="9" name="Text 7"/>
          <p:cNvSpPr/>
          <p:nvPr/>
        </p:nvSpPr>
        <p:spPr>
          <a:xfrm>
            <a:off x="4588815" y="1396083"/>
            <a:ext cx="3878759" cy="218033"/>
          </a:xfrm>
          <a:prstGeom prst="rect">
            <a:avLst/>
          </a:prstGeom>
          <a:noFill/>
          <a:ln/>
        </p:spPr>
        <p:txBody>
          <a:bodyPr wrap="none" lIns="0" tIns="0" rIns="0" bIns="0" rtlCol="0" anchor="t"/>
          <a:lstStyle/>
          <a:p>
            <a:pPr marL="0" indent="0" algn="l">
              <a:lnSpc>
                <a:spcPct val="104000"/>
              </a:lnSpc>
              <a:buNone/>
            </a:pPr>
            <a:r>
              <a:rPr lang="en-US" sz="1400" b="1" dirty="0">
                <a:solidFill>
                  <a:srgbClr val="000000"/>
                </a:solidFill>
                <a:latin typeface="Times New Roman" panose="02020603050405020304" pitchFamily="18" charset="0"/>
                <a:ea typeface="Petrona Bold" pitchFamily="34" charset="-122"/>
                <a:cs typeface="Times New Roman" panose="02020603050405020304" pitchFamily="18" charset="0"/>
              </a:rPr>
              <a:t>What We'd Do Differently</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4588815" y="1624013"/>
            <a:ext cx="4059067" cy="2938360"/>
          </a:xfrm>
          <a:prstGeom prst="rect">
            <a:avLst/>
          </a:prstGeom>
          <a:noFill/>
          <a:ln/>
        </p:spPr>
        <p:txBody>
          <a:bodyPr wrap="square" lIns="0" tIns="0" rIns="0" bIns="0" rtlCol="0" anchor="t">
            <a:noAutofit/>
          </a:bodyPr>
          <a:lstStyle/>
          <a:p>
            <a:pPr marL="171450" lvl="0" indent="-171450">
              <a:lnSpc>
                <a:spcPct val="150000"/>
              </a:lnSpc>
              <a:buFont typeface="Wingdings" panose="05000000000000000000" pitchFamily="2" charset="2"/>
              <a:buChar char="ü"/>
            </a:pPr>
            <a:r>
              <a:rPr lang="en-IN" sz="1200" b="1" dirty="0">
                <a:solidFill>
                  <a:srgbClr val="CC0000"/>
                </a:solidFill>
                <a:latin typeface="Times New Roman" panose="02020603050405020304" pitchFamily="18" charset="0"/>
                <a:cs typeface="Times New Roman" panose="02020603050405020304" pitchFamily="18" charset="0"/>
              </a:rPr>
              <a:t>Increase Siemens Allocation:</a:t>
            </a:r>
            <a:r>
              <a:rPr lang="en-IN" sz="1200" dirty="0">
                <a:solidFill>
                  <a:srgbClr val="CC0000"/>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Allocate more capital to Siemens due to its superior performance. </a:t>
            </a:r>
          </a:p>
          <a:p>
            <a:pPr marL="171450" lvl="0" indent="-171450">
              <a:lnSpc>
                <a:spcPct val="150000"/>
              </a:lnSpc>
              <a:buFont typeface="Wingdings" panose="05000000000000000000" pitchFamily="2" charset="2"/>
              <a:buChar char="ü"/>
            </a:pPr>
            <a:r>
              <a:rPr lang="en-IN" sz="1200" b="1" dirty="0">
                <a:solidFill>
                  <a:srgbClr val="CC0000"/>
                </a:solidFill>
                <a:latin typeface="Times New Roman" panose="02020603050405020304" pitchFamily="18" charset="0"/>
                <a:cs typeface="Times New Roman" panose="02020603050405020304" pitchFamily="18" charset="0"/>
              </a:rPr>
              <a:t>Boost Divi's Investment:</a:t>
            </a:r>
            <a:r>
              <a:rPr lang="en-IN" sz="1200" dirty="0">
                <a:solidFill>
                  <a:srgbClr val="CC0000"/>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Increase exposure to Divi's Laboratories based on its strong returns. </a:t>
            </a:r>
          </a:p>
          <a:p>
            <a:pPr marL="171450" lvl="0" indent="-171450">
              <a:lnSpc>
                <a:spcPct val="150000"/>
              </a:lnSpc>
              <a:buFont typeface="Wingdings" panose="05000000000000000000" pitchFamily="2" charset="2"/>
              <a:buChar char="ü"/>
            </a:pPr>
            <a:r>
              <a:rPr lang="en-IN" sz="1200" b="1" dirty="0">
                <a:solidFill>
                  <a:srgbClr val="CC0000"/>
                </a:solidFill>
                <a:latin typeface="Times New Roman" panose="02020603050405020304" pitchFamily="18" charset="0"/>
                <a:cs typeface="Times New Roman" panose="02020603050405020304" pitchFamily="18" charset="0"/>
              </a:rPr>
              <a:t>Reduce Ashok Leyland:</a:t>
            </a:r>
            <a:r>
              <a:rPr lang="en-IN" sz="1200" dirty="0">
                <a:solidFill>
                  <a:srgbClr val="CC0000"/>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Lower allocation to improve overall portfolio returns. </a:t>
            </a:r>
          </a:p>
          <a:p>
            <a:pPr marL="171450" lvl="0" indent="-171450">
              <a:lnSpc>
                <a:spcPct val="150000"/>
              </a:lnSpc>
              <a:buFont typeface="Wingdings" panose="05000000000000000000" pitchFamily="2" charset="2"/>
              <a:buChar char="ü"/>
            </a:pPr>
            <a:r>
              <a:rPr lang="en-IN" sz="1200" b="1" dirty="0">
                <a:solidFill>
                  <a:srgbClr val="CC0000"/>
                </a:solidFill>
                <a:latin typeface="Times New Roman" panose="02020603050405020304" pitchFamily="18" charset="0"/>
                <a:cs typeface="Times New Roman" panose="02020603050405020304" pitchFamily="18" charset="0"/>
              </a:rPr>
              <a:t>Reallocate Capital:</a:t>
            </a:r>
            <a:r>
              <a:rPr lang="en-IN" sz="1200" dirty="0">
                <a:solidFill>
                  <a:srgbClr val="CC0000"/>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Shift funds from lower-return to high-conviction stocks. </a:t>
            </a:r>
          </a:p>
          <a:p>
            <a:pPr marL="171450" lvl="0" indent="-171450">
              <a:lnSpc>
                <a:spcPct val="150000"/>
              </a:lnSpc>
              <a:buFont typeface="Wingdings" panose="05000000000000000000" pitchFamily="2" charset="2"/>
              <a:buChar char="ü"/>
            </a:pPr>
            <a:r>
              <a:rPr lang="en-IN" sz="1200" b="1" dirty="0">
                <a:solidFill>
                  <a:srgbClr val="CC0000"/>
                </a:solidFill>
                <a:latin typeface="Times New Roman" panose="02020603050405020304" pitchFamily="18" charset="0"/>
                <a:cs typeface="Times New Roman" panose="02020603050405020304" pitchFamily="18" charset="0"/>
              </a:rPr>
              <a:t>Optimize Portfolio Weights:</a:t>
            </a:r>
            <a:r>
              <a:rPr lang="en-IN" sz="1200" dirty="0">
                <a:solidFill>
                  <a:srgbClr val="CC0000"/>
                </a:solidFill>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Adjust allocations based on conviction while maintaining diversification.</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2977" y="144543"/>
            <a:ext cx="8151763" cy="465162"/>
          </a:xfrm>
          <a:prstGeom prst="rect">
            <a:avLst/>
          </a:prstGeom>
          <a:noFill/>
          <a:ln/>
        </p:spPr>
        <p:txBody>
          <a:bodyPr wrap="none" lIns="0" tIns="0" rIns="0" bIns="0" rtlCol="0" anchor="t"/>
          <a:lstStyle/>
          <a:p>
            <a:pPr marL="0" indent="0" algn="ctr">
              <a:lnSpc>
                <a:spcPct val="104000"/>
              </a:lnSpc>
              <a:buNone/>
            </a:pPr>
            <a:r>
              <a:rPr lang="en-US" sz="3600" b="1" dirty="0">
                <a:solidFill>
                  <a:srgbClr val="000000"/>
                </a:solidFill>
                <a:latin typeface="Times New Roman" panose="02020603050405020304" pitchFamily="18" charset="0"/>
                <a:ea typeface="Petrona Bold" pitchFamily="34" charset="-122"/>
                <a:cs typeface="Times New Roman" panose="02020603050405020304" pitchFamily="18" charset="0"/>
              </a:rPr>
              <a:t>Conclusion</a:t>
            </a:r>
            <a:endParaRPr lang="en-US" sz="3600" dirty="0">
              <a:latin typeface="Times New Roman" panose="02020603050405020304" pitchFamily="18" charset="0"/>
              <a:cs typeface="Times New Roman" panose="02020603050405020304" pitchFamily="18" charset="0"/>
            </a:endParaRPr>
          </a:p>
        </p:txBody>
      </p:sp>
      <p:sp>
        <p:nvSpPr>
          <p:cNvPr id="3" name="Text 1"/>
          <p:cNvSpPr/>
          <p:nvPr/>
        </p:nvSpPr>
        <p:spPr>
          <a:xfrm>
            <a:off x="535781" y="765215"/>
            <a:ext cx="8151763" cy="232544"/>
          </a:xfrm>
          <a:prstGeom prst="rect">
            <a:avLst/>
          </a:prstGeom>
          <a:noFill/>
          <a:ln/>
        </p:spPr>
        <p:txBody>
          <a:bodyPr wrap="none" lIns="0" tIns="0" rIns="0" bIns="0" rtlCol="0" anchor="t"/>
          <a:lstStyle/>
          <a:p>
            <a:pPr marL="0" indent="0" algn="ctr">
              <a:lnSpc>
                <a:spcPct val="104000"/>
              </a:lnSpc>
              <a:buNone/>
            </a:pPr>
            <a:r>
              <a:rPr lang="en-US" b="1" dirty="0">
                <a:solidFill>
                  <a:srgbClr val="000000"/>
                </a:solidFill>
                <a:latin typeface="Times New Roman" panose="02020603050405020304" pitchFamily="18" charset="0"/>
                <a:ea typeface="Petrona Bold" pitchFamily="34" charset="-122"/>
                <a:cs typeface="Times New Roman" panose="02020603050405020304" pitchFamily="18" charset="0"/>
              </a:rPr>
              <a:t>Summary of portfolio performance and key investment learnings.</a:t>
            </a:r>
            <a:endParaRPr lang="en-US" dirty="0">
              <a:latin typeface="Times New Roman" panose="02020603050405020304" pitchFamily="18" charset="0"/>
              <a:cs typeface="Times New Roman" panose="02020603050405020304" pitchFamily="18" charset="0"/>
            </a:endParaRPr>
          </a:p>
        </p:txBody>
      </p:sp>
      <p:sp>
        <p:nvSpPr>
          <p:cNvPr id="5" name="Shape 3"/>
          <p:cNvSpPr/>
          <p:nvPr/>
        </p:nvSpPr>
        <p:spPr>
          <a:xfrm>
            <a:off x="394022" y="1642393"/>
            <a:ext cx="4107135" cy="2121768"/>
          </a:xfrm>
          <a:prstGeom prst="roundRect">
            <a:avLst>
              <a:gd name="adj" fmla="val 4811"/>
            </a:avLst>
          </a:prstGeom>
          <a:solidFill>
            <a:schemeClr val="bg2">
              <a:alpha val="95000"/>
            </a:schemeClr>
          </a:solidFill>
          <a:ln/>
        </p:spPr>
      </p:sp>
      <p:sp>
        <p:nvSpPr>
          <p:cNvPr id="6" name="Text 4"/>
          <p:cNvSpPr/>
          <p:nvPr/>
        </p:nvSpPr>
        <p:spPr>
          <a:xfrm>
            <a:off x="535781" y="1784152"/>
            <a:ext cx="3823618" cy="279127"/>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Times New Roman" panose="02020603050405020304" pitchFamily="18" charset="0"/>
                <a:ea typeface="Petrona Bold" pitchFamily="34" charset="-122"/>
                <a:cs typeface="Times New Roman" panose="02020603050405020304" pitchFamily="18" charset="0"/>
              </a:rPr>
              <a:t>Portfolio </a:t>
            </a:r>
            <a:r>
              <a:rPr lang="en-US" b="1" dirty="0">
                <a:solidFill>
                  <a:srgbClr val="000000"/>
                </a:solidFill>
                <a:latin typeface="Times New Roman" panose="02020603050405020304" pitchFamily="18" charset="0"/>
                <a:ea typeface="Petrona Bold" pitchFamily="34" charset="-122"/>
                <a:cs typeface="Times New Roman" panose="02020603050405020304" pitchFamily="18" charset="0"/>
              </a:rPr>
              <a:t>Outcomes</a:t>
            </a:r>
            <a:endParaRPr lang="en-US" sz="1750" dirty="0">
              <a:latin typeface="Times New Roman" panose="02020603050405020304" pitchFamily="18" charset="0"/>
              <a:cs typeface="Times New Roman" panose="02020603050405020304" pitchFamily="18" charset="0"/>
            </a:endParaRPr>
          </a:p>
        </p:txBody>
      </p:sp>
      <p:sp>
        <p:nvSpPr>
          <p:cNvPr id="7" name="Text 5"/>
          <p:cNvSpPr/>
          <p:nvPr/>
        </p:nvSpPr>
        <p:spPr>
          <a:xfrm>
            <a:off x="535781" y="2205038"/>
            <a:ext cx="3823618" cy="1055936"/>
          </a:xfrm>
          <a:prstGeom prst="rect">
            <a:avLst/>
          </a:prstGeom>
          <a:noFill/>
          <a:ln/>
        </p:spPr>
        <p:txBody>
          <a:bodyPr wrap="square" lIns="0" tIns="0" rIns="0" bIns="0" rtlCol="0" anchor="t">
            <a:normAutofit/>
          </a:bodyPr>
          <a:lstStyle/>
          <a:p>
            <a:pPr marL="285750" indent="-285750" algn="l">
              <a:lnSpc>
                <a:spcPct val="133000"/>
              </a:lnSpc>
              <a:buSzPct val="100000"/>
              <a:buFont typeface="Wingdings" panose="05000000000000000000" pitchFamily="2" charset="2"/>
              <a:buChar char="ü"/>
            </a:pPr>
            <a:r>
              <a:rPr lang="en-US" sz="1300" dirty="0">
                <a:solidFill>
                  <a:srgbClr val="272525"/>
                </a:solidFill>
                <a:latin typeface="Times New Roman" panose="02020603050405020304" pitchFamily="18" charset="0"/>
                <a:ea typeface="Inter" pitchFamily="34" charset="-122"/>
                <a:cs typeface="Times New Roman" panose="02020603050405020304" pitchFamily="18" charset="0"/>
              </a:rPr>
              <a:t>Successfully invested within the ₹10 lakh limit.</a:t>
            </a:r>
            <a:endParaRPr lang="en-US" sz="1300" dirty="0">
              <a:latin typeface="Times New Roman" panose="02020603050405020304" pitchFamily="18" charset="0"/>
              <a:cs typeface="Times New Roman" panose="02020603050405020304" pitchFamily="18" charset="0"/>
            </a:endParaRPr>
          </a:p>
          <a:p>
            <a:pPr marL="285750" indent="-285750" algn="l">
              <a:lnSpc>
                <a:spcPct val="133000"/>
              </a:lnSpc>
              <a:buSzPct val="100000"/>
              <a:buFont typeface="Wingdings" panose="05000000000000000000" pitchFamily="2" charset="2"/>
              <a:buChar char="ü"/>
            </a:pPr>
            <a:r>
              <a:rPr lang="en-US" sz="1300" dirty="0">
                <a:solidFill>
                  <a:srgbClr val="272525"/>
                </a:solidFill>
                <a:latin typeface="Times New Roman" panose="02020603050405020304" pitchFamily="18" charset="0"/>
                <a:ea typeface="Inter" pitchFamily="34" charset="-122"/>
                <a:cs typeface="Times New Roman" panose="02020603050405020304" pitchFamily="18" charset="0"/>
              </a:rPr>
              <a:t>Achieved an overall portfolio return of </a:t>
            </a:r>
            <a:r>
              <a:rPr lang="en-US" sz="1300" dirty="0">
                <a:solidFill>
                  <a:srgbClr val="28A745"/>
                </a:solidFill>
                <a:latin typeface="Times New Roman" panose="02020603050405020304" pitchFamily="18" charset="0"/>
                <a:ea typeface="Inter" pitchFamily="34" charset="-122"/>
                <a:cs typeface="Times New Roman" panose="02020603050405020304" pitchFamily="18" charset="0"/>
              </a:rPr>
              <a:t>2.36%</a:t>
            </a:r>
            <a:r>
              <a:rPr lang="en-US" sz="130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p>
            <a:pPr marL="285750" indent="-285750" algn="l">
              <a:lnSpc>
                <a:spcPct val="133000"/>
              </a:lnSpc>
              <a:buSzPct val="100000"/>
              <a:buFont typeface="Wingdings" panose="05000000000000000000" pitchFamily="2" charset="2"/>
              <a:buChar char="ü"/>
            </a:pPr>
            <a:r>
              <a:rPr lang="en-US" sz="1300" dirty="0">
                <a:solidFill>
                  <a:srgbClr val="272525"/>
                </a:solidFill>
                <a:latin typeface="Times New Roman" panose="02020603050405020304" pitchFamily="18" charset="0"/>
                <a:ea typeface="Inter" pitchFamily="34" charset="-122"/>
                <a:cs typeface="Times New Roman" panose="02020603050405020304" pitchFamily="18" charset="0"/>
              </a:rPr>
              <a:t>Generated a total profit of </a:t>
            </a:r>
            <a:r>
              <a:rPr lang="en-US" sz="1300" dirty="0">
                <a:solidFill>
                  <a:srgbClr val="28A745"/>
                </a:solidFill>
                <a:latin typeface="Times New Roman" panose="02020603050405020304" pitchFamily="18" charset="0"/>
                <a:ea typeface="Inter" pitchFamily="34" charset="-122"/>
                <a:cs typeface="Times New Roman" panose="02020603050405020304" pitchFamily="18" charset="0"/>
              </a:rPr>
              <a:t>₹23,566.26</a:t>
            </a:r>
            <a:r>
              <a:rPr lang="en-US" sz="130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p>
            <a:pPr marL="285750" indent="-285750" algn="l">
              <a:lnSpc>
                <a:spcPct val="133000"/>
              </a:lnSpc>
              <a:buSzPct val="100000"/>
              <a:buFont typeface="Wingdings" panose="05000000000000000000" pitchFamily="2" charset="2"/>
              <a:buChar char="ü"/>
            </a:pPr>
            <a:r>
              <a:rPr lang="en-US" sz="1300" dirty="0">
                <a:solidFill>
                  <a:srgbClr val="272525"/>
                </a:solidFill>
                <a:latin typeface="Times New Roman" panose="02020603050405020304" pitchFamily="18" charset="0"/>
                <a:ea typeface="Inter" pitchFamily="34" charset="-122"/>
                <a:cs typeface="Times New Roman" panose="02020603050405020304" pitchFamily="18" charset="0"/>
              </a:rPr>
              <a:t>All 7 holdings delivered positive returns</a:t>
            </a: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a:t>
            </a:r>
            <a:endParaRPr lang="en-US" sz="1100" dirty="0">
              <a:latin typeface="Times New Roman" panose="02020603050405020304" pitchFamily="18" charset="0"/>
              <a:cs typeface="Times New Roman" panose="02020603050405020304" pitchFamily="18" charset="0"/>
            </a:endParaRPr>
          </a:p>
        </p:txBody>
      </p:sp>
      <p:sp>
        <p:nvSpPr>
          <p:cNvPr id="8" name="Shape 6"/>
          <p:cNvSpPr/>
          <p:nvPr/>
        </p:nvSpPr>
        <p:spPr>
          <a:xfrm>
            <a:off x="4647605" y="1642393"/>
            <a:ext cx="4107135" cy="2121768"/>
          </a:xfrm>
          <a:prstGeom prst="roundRect">
            <a:avLst>
              <a:gd name="adj" fmla="val 4811"/>
            </a:avLst>
          </a:prstGeom>
          <a:solidFill>
            <a:schemeClr val="bg2">
              <a:alpha val="95000"/>
            </a:schemeClr>
          </a:solidFill>
          <a:ln/>
        </p:spPr>
      </p:sp>
      <p:sp>
        <p:nvSpPr>
          <p:cNvPr id="9" name="Text 7"/>
          <p:cNvSpPr/>
          <p:nvPr/>
        </p:nvSpPr>
        <p:spPr>
          <a:xfrm>
            <a:off x="4789363" y="1784152"/>
            <a:ext cx="3823618" cy="279127"/>
          </a:xfrm>
          <a:prstGeom prst="rect">
            <a:avLst/>
          </a:prstGeom>
          <a:noFill/>
          <a:ln/>
        </p:spPr>
        <p:txBody>
          <a:bodyPr wrap="none" lIns="0" tIns="0" rIns="0" bIns="0" rtlCol="0" anchor="t"/>
          <a:lstStyle/>
          <a:p>
            <a:pPr marL="0" indent="0" algn="l">
              <a:lnSpc>
                <a:spcPct val="104000"/>
              </a:lnSpc>
              <a:buNone/>
            </a:pPr>
            <a:r>
              <a:rPr lang="en-US" sz="1750" b="1" dirty="0">
                <a:solidFill>
                  <a:srgbClr val="000000"/>
                </a:solidFill>
                <a:latin typeface="Times New Roman" panose="02020603050405020304" pitchFamily="18" charset="0"/>
                <a:ea typeface="Petrona Bold" pitchFamily="34" charset="-122"/>
                <a:cs typeface="Times New Roman" panose="02020603050405020304" pitchFamily="18" charset="0"/>
              </a:rPr>
              <a:t>Key </a:t>
            </a:r>
            <a:r>
              <a:rPr lang="en-US" b="1" dirty="0">
                <a:solidFill>
                  <a:srgbClr val="000000"/>
                </a:solidFill>
                <a:latin typeface="Times New Roman" panose="02020603050405020304" pitchFamily="18" charset="0"/>
                <a:ea typeface="Petrona Bold" pitchFamily="34" charset="-122"/>
                <a:cs typeface="Times New Roman" panose="02020603050405020304" pitchFamily="18" charset="0"/>
              </a:rPr>
              <a:t>Learnings</a:t>
            </a:r>
            <a:endParaRPr lang="en-US" sz="1750" dirty="0">
              <a:latin typeface="Times New Roman" panose="02020603050405020304" pitchFamily="18" charset="0"/>
              <a:cs typeface="Times New Roman" panose="02020603050405020304" pitchFamily="18" charset="0"/>
            </a:endParaRPr>
          </a:p>
        </p:txBody>
      </p:sp>
      <p:sp>
        <p:nvSpPr>
          <p:cNvPr id="10" name="Text 8"/>
          <p:cNvSpPr/>
          <p:nvPr/>
        </p:nvSpPr>
        <p:spPr>
          <a:xfrm>
            <a:off x="4789363" y="2205038"/>
            <a:ext cx="3823618" cy="1509564"/>
          </a:xfrm>
          <a:prstGeom prst="rect">
            <a:avLst/>
          </a:prstGeom>
          <a:noFill/>
          <a:ln/>
        </p:spPr>
        <p:txBody>
          <a:bodyPr wrap="square" lIns="0" tIns="0" rIns="0" bIns="0" rtlCol="0" anchor="t">
            <a:normAutofit/>
          </a:bodyPr>
          <a:lstStyle/>
          <a:p>
            <a:pPr marL="223520" indent="-223520" algn="l">
              <a:lnSpc>
                <a:spcPct val="133000"/>
              </a:lnSpc>
              <a:buSzPct val="100000"/>
              <a:buFont typeface="Wingdings" panose="05000000000000000000" pitchFamily="2" charset="2"/>
              <a:buChar char="ü"/>
            </a:pPr>
            <a:r>
              <a:rPr lang="en-US" sz="1200" dirty="0">
                <a:solidFill>
                  <a:srgbClr val="272525"/>
                </a:solidFill>
                <a:latin typeface="Times New Roman" panose="02020603050405020304" pitchFamily="18" charset="0"/>
                <a:ea typeface="Inter" pitchFamily="34" charset="-122"/>
                <a:cs typeface="Times New Roman" panose="02020603050405020304" pitchFamily="18" charset="0"/>
              </a:rPr>
              <a:t>Diversification helped balance portfolio risk.</a:t>
            </a:r>
            <a:endParaRPr lang="en-US" sz="1200" dirty="0">
              <a:latin typeface="Times New Roman" panose="02020603050405020304" pitchFamily="18" charset="0"/>
              <a:cs typeface="Times New Roman" panose="02020603050405020304" pitchFamily="18" charset="0"/>
            </a:endParaRPr>
          </a:p>
          <a:p>
            <a:pPr marL="223520" indent="-223520" algn="l">
              <a:lnSpc>
                <a:spcPct val="133000"/>
              </a:lnSpc>
              <a:buSzPct val="100000"/>
              <a:buFont typeface="Wingdings" panose="05000000000000000000" pitchFamily="2" charset="2"/>
              <a:buChar char="ü"/>
            </a:pPr>
            <a:r>
              <a:rPr lang="en-US" sz="1200" dirty="0">
                <a:solidFill>
                  <a:srgbClr val="272525"/>
                </a:solidFill>
                <a:latin typeface="Times New Roman" panose="02020603050405020304" pitchFamily="18" charset="0"/>
                <a:ea typeface="Inter" pitchFamily="34" charset="-122"/>
                <a:cs typeface="Times New Roman" panose="02020603050405020304" pitchFamily="18" charset="0"/>
              </a:rPr>
              <a:t>Strong stock selection supported positive returns.</a:t>
            </a:r>
            <a:endParaRPr lang="en-US" sz="1200" dirty="0">
              <a:latin typeface="Times New Roman" panose="02020603050405020304" pitchFamily="18" charset="0"/>
              <a:cs typeface="Times New Roman" panose="02020603050405020304" pitchFamily="18" charset="0"/>
            </a:endParaRPr>
          </a:p>
          <a:p>
            <a:pPr marL="223520" indent="-223520" algn="l">
              <a:lnSpc>
                <a:spcPct val="133000"/>
              </a:lnSpc>
              <a:buSzPct val="100000"/>
              <a:buFont typeface="Wingdings" panose="05000000000000000000" pitchFamily="2" charset="2"/>
              <a:buChar char="ü"/>
            </a:pPr>
            <a:r>
              <a:rPr lang="en-US" sz="1200" dirty="0">
                <a:solidFill>
                  <a:srgbClr val="272525"/>
                </a:solidFill>
                <a:latin typeface="Times New Roman" panose="02020603050405020304" pitchFamily="18" charset="0"/>
                <a:ea typeface="Inter" pitchFamily="34" charset="-122"/>
                <a:cs typeface="Times New Roman" panose="02020603050405020304" pitchFamily="18" charset="0"/>
              </a:rPr>
              <a:t>Capital allocation plays a crucial role in portfolio performance.</a:t>
            </a:r>
            <a:endParaRPr lang="en-US" sz="1200" dirty="0">
              <a:latin typeface="Times New Roman" panose="02020603050405020304" pitchFamily="18" charset="0"/>
              <a:cs typeface="Times New Roman" panose="02020603050405020304" pitchFamily="18" charset="0"/>
            </a:endParaRPr>
          </a:p>
          <a:p>
            <a:pPr marL="223520" indent="-223520" algn="l">
              <a:lnSpc>
                <a:spcPct val="133000"/>
              </a:lnSpc>
              <a:buSzPct val="100000"/>
              <a:buFont typeface="Wingdings" panose="05000000000000000000" pitchFamily="2" charset="2"/>
              <a:buChar char="ü"/>
            </a:pPr>
            <a:r>
              <a:rPr lang="en-US" sz="1200" dirty="0">
                <a:solidFill>
                  <a:srgbClr val="272525"/>
                </a:solidFill>
                <a:latin typeface="Times New Roman" panose="02020603050405020304" pitchFamily="18" charset="0"/>
                <a:ea typeface="Inter" pitchFamily="34" charset="-122"/>
                <a:cs typeface="Times New Roman" panose="02020603050405020304" pitchFamily="18" charset="0"/>
              </a:rPr>
              <a:t>Continuous portfolio monitoring improves investment decisions.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4F0E244-E4C4-49F6-14B5-3D6BC4F8DAAD}"/>
              </a:ext>
            </a:extLst>
          </p:cNvPr>
          <p:cNvSpPr>
            <a:spLocks noGrp="1"/>
          </p:cNvSpPr>
          <p:nvPr>
            <p:ph type="title"/>
          </p:nvPr>
        </p:nvSpPr>
        <p:spPr/>
        <p:txBody>
          <a:bodyPr>
            <a:normAutofit/>
          </a:bodyPr>
          <a:lstStyle/>
          <a:p>
            <a:r>
              <a:rPr lang="en-US" sz="1600" dirty="0">
                <a:latin typeface="Times New Roman" panose="02020603050405020304" pitchFamily="18" charset="0"/>
                <a:cs typeface="Times New Roman" panose="02020603050405020304" pitchFamily="18" charset="0"/>
              </a:rPr>
              <a:t>We appreciate your time and effort</a:t>
            </a:r>
            <a:endParaRPr lang="en-IN" sz="1600" dirty="0">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EBA1D1B3-1F82-15F0-7ADD-242D35BA9064}"/>
              </a:ext>
            </a:extLst>
          </p:cNvPr>
          <p:cNvSpPr>
            <a:spLocks noGrp="1"/>
          </p:cNvSpPr>
          <p:nvPr>
            <p:ph sz="quarter" idx="13"/>
          </p:nvPr>
        </p:nvSpPr>
        <p:spPr>
          <a:xfrm>
            <a:off x="1947851" y="2078020"/>
            <a:ext cx="5248298" cy="919458"/>
          </a:xfrm>
        </p:spPr>
        <p:txBody>
          <a:bodyPr>
            <a:normAutofit fontScale="92500" lnSpcReduction="20000"/>
          </a:bodyPr>
          <a:lstStyle/>
          <a:p>
            <a:r>
              <a:rPr lang="en-US" sz="6600" dirty="0">
                <a:latin typeface="Times New Roman" panose="02020603050405020304" pitchFamily="18" charset="0"/>
                <a:cs typeface="Times New Roman" panose="02020603050405020304" pitchFamily="18" charset="0"/>
              </a:rPr>
              <a:t>THANK YOU!</a:t>
            </a:r>
            <a:endParaRPr lang="en-IN"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0490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themeOverride>
</file>

<file path=docProps/app.xml><?xml version="1.0" encoding="utf-8"?>
<Properties xmlns="http://schemas.openxmlformats.org/officeDocument/2006/extended-properties" xmlns:vt="http://schemas.openxmlformats.org/officeDocument/2006/docPropsVTypes">
  <Template/>
  <TotalTime>585</TotalTime>
  <Words>1450</Words>
  <Application>Microsoft Office PowerPoint</Application>
  <PresentationFormat>On-screen Show (16:9)</PresentationFormat>
  <Paragraphs>249</Paragraphs>
  <Slides>11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Times New Roman</vt:lpstr>
      <vt:lpstr>Petrona Bold</vt:lpstr>
      <vt:lpstr>Wingdings</vt:lpstr>
      <vt:lpstr>Felix Titling</vt:lpstr>
      <vt:lpstr>Inter Bold</vt:lpstr>
      <vt:lpstr>Arial</vt:lpstr>
      <vt:lpstr>Goudy Old Style</vt: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appreciate your time and effort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Sahil Singhal</dc:creator>
  <cp:lastModifiedBy>Sahil Singhal</cp:lastModifiedBy>
  <cp:revision>6</cp:revision>
  <dcterms:created xsi:type="dcterms:W3CDTF">2026-08-03T17:22:10Z</dcterms:created>
  <dcterms:modified xsi:type="dcterms:W3CDTF">2026-08-04T20:22:02Z</dcterms:modified>
</cp:coreProperties>
</file>